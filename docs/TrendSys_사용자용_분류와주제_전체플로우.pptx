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94360"/>
            <a:ext cx="1965960" cy="411480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400" b="1">
                <a:solidFill>
                  <a:srgbClr val="FFFFFF"/>
                </a:solidFill>
                <a:latin typeface="Apple SD Gothic Neo"/>
              </a:rPr>
              <a:t>TrendSys 사용자 안내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12344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Apple SD Gothic Neo"/>
              </a:rPr>
              <a:t>게임 게시판의 수많은 글이</a:t>
            </a:r>
          </a:p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Apple SD Gothic Neo"/>
              </a:rPr>
              <a:t>‘카테고리·주제·알림’이 되는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26080"/>
            <a:ext cx="1024128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BECDE6"/>
                </a:solidFill>
                <a:latin typeface="Apple SD Gothic Neo"/>
              </a:rPr>
              <a:t>초보자를 위한 전체 플로우 · 분류 근거 · 묶음 기준 · 운영 화면 읽는 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09160"/>
            <a:ext cx="3337560" cy="1097280"/>
          </a:xfrm>
          <a:prstGeom prst="roundRect">
            <a:avLst/>
          </a:prstGeom>
          <a:solidFill>
            <a:srgbClr val="1D2B46"/>
          </a:solidFill>
          <a:ln>
            <a:solidFill>
              <a:srgbClr val="3F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700" b="1">
                <a:solidFill>
                  <a:srgbClr val="FFFFFF"/>
                </a:solidFill>
                <a:latin typeface="Apple SD Gothic Neo"/>
              </a:rPr>
              <a:t>카테고리
글의 큰 성격 — 서랍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4709160"/>
            <a:ext cx="3337560" cy="1097280"/>
          </a:xfrm>
          <a:prstGeom prst="roundRect">
            <a:avLst/>
          </a:prstGeom>
          <a:solidFill>
            <a:srgbClr val="1D2B46"/>
          </a:solidFill>
          <a:ln>
            <a:solidFill>
              <a:srgbClr val="3F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700" b="1">
                <a:solidFill>
                  <a:srgbClr val="FFFFFF"/>
                </a:solidFill>
                <a:latin typeface="Apple SD Gothic Neo"/>
              </a:rPr>
              <a:t>주제
지금 함께 떠오른 구체적 이슈 — 원탁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4709160"/>
            <a:ext cx="3337560" cy="1097280"/>
          </a:xfrm>
          <a:prstGeom prst="roundRect">
            <a:avLst/>
          </a:prstGeom>
          <a:solidFill>
            <a:srgbClr val="1D2B46"/>
          </a:solidFill>
          <a:ln>
            <a:solidFill>
              <a:srgbClr val="3F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700" b="1">
                <a:solidFill>
                  <a:srgbClr val="FFFFFF"/>
                </a:solidFill>
                <a:latin typeface="Apple SD Gothic Neo"/>
              </a:rPr>
              <a:t>알림
운영팀이 지금 봐야 하는 사건 — 신호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234440" cy="347472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핵심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21C30"/>
                </a:solidFill>
                <a:latin typeface="Apple SD Gothic Neo"/>
              </a:rPr>
              <a:t>먼저 결론: 카테고리와 주제는 같은 것이 아닙니다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67085"/>
                </a:solidFill>
                <a:latin typeface="Apple SD Gothic Neo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5257800" cy="3520440"/>
          </a:xfrm>
          <a:prstGeom prst="roundRect">
            <a:avLst/>
          </a:prstGeom>
          <a:solidFill>
            <a:srgbClr val="EBF2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900" b="1">
                <a:solidFill>
                  <a:srgbClr val="252D3D"/>
                </a:solidFill>
                <a:latin typeface="Apple SD Gothic Neo"/>
              </a:rPr>
              <a:t>카테고리 = 큰 분류 서랍
예: 일반 · 콘텐츠 · 운영 · 밸런스 · 과금 · 버그
주된 판단자: Gemma 언어 모델
벡터는 거의 같은 글을 빠르게 넣는 보조 수단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874519"/>
            <a:ext cx="5257800" cy="3520440"/>
          </a:xfrm>
          <a:prstGeom prst="roundRect">
            <a:avLst/>
          </a:prstGeom>
          <a:solidFill>
            <a:srgbClr val="EBFAF6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900" b="1">
                <a:solidFill>
                  <a:srgbClr val="252D3D"/>
                </a:solidFill>
                <a:latin typeface="Apple SD Gothic Neo"/>
              </a:rPr>
              <a:t>주제 = 지금 함께 이야기되는 구체적 사건
예: ‘신규 캐릭터 스킬 오류’, ‘특정 상품 가격 논란’
주된 판단자: 임베딩 벡터의 가까움
이름 붙이기·검증·애매한 병합에는 Gemma 사용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78992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E04F5F"/>
                </a:solidFill>
                <a:latin typeface="Apple SD Gothic Neo"/>
              </a:rPr>
              <a:t>한 카테고리 안에 여러 주제가 있을 수 있고, 한 주제에 여러 카테고리 성격이 섞일 수도 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234440" cy="347472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전체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21C30"/>
                </a:solidFill>
                <a:latin typeface="Apple SD Gothic Neo"/>
              </a:rPr>
              <a:t>한 장으로 보는 전체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61872"/>
            <a:ext cx="1097280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67085"/>
                </a:solidFill>
                <a:latin typeface="Apple SD Gothic Neo"/>
              </a:rPr>
              <a:t>매 수집 주기와 분석 주기마다 자동으로 반복됩니다.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67085"/>
                </a:solidFill>
                <a:latin typeface="Apple SD Gothic Neo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286000"/>
            <a:ext cx="1234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>① 수집
원본 DB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36776" y="2724912"/>
            <a:ext cx="228600" cy="256032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23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65376" y="2286000"/>
            <a:ext cx="1234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>② 정리
본문 정제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90672" y="2724912"/>
            <a:ext cx="228600" cy="256032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23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9272" y="2286000"/>
            <a:ext cx="1234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>③ 벡터화
의미 좌표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44568" y="2724912"/>
            <a:ext cx="228600" cy="256032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23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73168" y="2286000"/>
            <a:ext cx="1234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>④ 카테고리
큰 서랍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98464" y="2724912"/>
            <a:ext cx="228600" cy="256032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23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2286000"/>
            <a:ext cx="1234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>⑤ 주제
구체 이슈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2724912"/>
            <a:ext cx="228600" cy="256032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23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2286000"/>
            <a:ext cx="1234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>⑥ 탐지
열기·급증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2724912"/>
            <a:ext cx="228600" cy="256032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23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34856" y="2286000"/>
            <a:ext cx="1234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>⑦ 판단
요약·O/X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60152" y="2724912"/>
            <a:ext cx="228600" cy="256032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23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88752" y="2286000"/>
            <a:ext cx="1234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>⑧ 표시
UI·이력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069080"/>
            <a:ext cx="10698480" cy="1143000"/>
          </a:xfrm>
          <a:prstGeom prst="roundRect">
            <a:avLst/>
          </a:prstGeom>
          <a:solidFill>
            <a:srgbClr val="EEF1F8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700" b="1">
                <a:solidFill>
                  <a:srgbClr val="252D3D"/>
                </a:solidFill>
                <a:latin typeface="Apple SD Gothic Neo"/>
              </a:rPr>
              <a:t>두 개의 반복 루프
수집 루프: 새 글만 가져와 저장·임베딩·카테고리 배정  |  분석 루프: 최근 창을 다시 보고 주제·버스트·알림 갱신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234440" cy="347472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수집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21C30"/>
                </a:solidFill>
                <a:latin typeface="Apple SD Gothic Neo"/>
              </a:rPr>
              <a:t>1단계 — 새 글을 안전하게 가져옵니다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61872"/>
            <a:ext cx="1097280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67085"/>
                </a:solidFill>
                <a:latin typeface="Apple SD Gothic Neo"/>
              </a:rPr>
              <a:t>현재 구현은 dcinside SQLite 원본을 읽기 전용으로 증분 수집하며 mock 모드도 제공합니다.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67085"/>
                </a:solidFill>
                <a:latin typeface="Apple SD Gothic Neo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5486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52D3D"/>
                </a:solidFill>
                <a:latin typeface="Apple SD Gothic Neo"/>
              </a:defRPr>
            </a:pPr>
            <a:r>
              <a:t>게임별 원본 DB와 갤러리 필터를 사용합니다.</a:t>
            </a:r>
          </a:p>
          <a:p>
            <a:pPr>
              <a:spcAft>
                <a:spcPts val="1000"/>
              </a:spcAft>
              <a:defRPr sz="1700">
                <a:solidFill>
                  <a:srgbClr val="252D3D"/>
                </a:solidFill>
                <a:latin typeface="Apple SD Gothic Neo"/>
              </a:defRPr>
            </a:pPr>
            <a:r>
              <a:t>마지막으로 본 post_no 이후의 글만 가져옵니다.</a:t>
            </a:r>
          </a:p>
          <a:p>
            <a:pPr>
              <a:spcAft>
                <a:spcPts val="1000"/>
              </a:spcAft>
              <a:defRPr sz="1700">
                <a:solidFill>
                  <a:srgbClr val="252D3D"/>
                </a:solidFill>
                <a:latin typeface="Apple SD Gothic Neo"/>
              </a:defRPr>
            </a:pPr>
            <a:r>
              <a:t>최초 연결 때는 설정된 시간만큼 소급합니다(기본 72시간).</a:t>
            </a:r>
          </a:p>
          <a:p>
            <a:pPr>
              <a:spcAft>
                <a:spcPts val="1000"/>
              </a:spcAft>
              <a:defRPr sz="1700">
                <a:solidFill>
                  <a:srgbClr val="252D3D"/>
                </a:solidFill>
                <a:latin typeface="Apple SD Gothic Neo"/>
              </a:defRPr>
            </a:pPr>
            <a:r>
              <a:t>글마다 game_id를 붙여 서로 다른 게임 데이터가 섞이지 않게 합니다.</a:t>
            </a:r>
          </a:p>
          <a:p>
            <a:pPr>
              <a:spcAft>
                <a:spcPts val="1000"/>
              </a:spcAft>
              <a:defRPr sz="1700">
                <a:solidFill>
                  <a:srgbClr val="252D3D"/>
                </a:solidFill>
                <a:latin typeface="Apple SD Gothic Neo"/>
              </a:defRPr>
            </a:pPr>
            <a:r>
              <a:t>수집 커서는 DB에 저장되어 서버 재시작 후에도 이어집니다.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2057400"/>
            <a:ext cx="4846320" cy="731520"/>
          </a:xfrm>
          <a:prstGeom prst="roundRect">
            <a:avLst/>
          </a:prstGeom>
          <a:solidFill>
            <a:srgbClr val="EBF2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2000" b="1">
                <a:solidFill>
                  <a:srgbClr val="252D3D"/>
                </a:solidFill>
                <a:latin typeface="Apple SD Gothic Neo"/>
              </a:rPr>
              <a:t>원본 DB → 새 번호만 조회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2971800"/>
            <a:ext cx="411480" cy="365760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23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3520440"/>
            <a:ext cx="4846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800" b="1">
                <a:solidFill>
                  <a:srgbClr val="252D3D"/>
                </a:solidFill>
                <a:latin typeface="Apple SD Gothic Neo"/>
              </a:rPr>
              <a:t>TrendSys DB
posts(game_id, id, title, body, created_at…)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234440" cy="347472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21C30"/>
                </a:solidFill>
                <a:latin typeface="Apple SD Gothic Neo"/>
              </a:rPr>
              <a:t>2단계 — 분석하기 좋은 문장으로 정리합니다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61872"/>
            <a:ext cx="1097280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67085"/>
                </a:solidFill>
                <a:latin typeface="Apple SD Gothic Neo"/>
              </a:rPr>
              <a:t>원문을 버리는 것이 아니라, 분석용 text를 별도로 만듭니다.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67085"/>
                </a:solidFill>
                <a:latin typeface="Apple SD Gothic Neo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50749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900" b="1">
                <a:solidFill>
                  <a:srgbClr val="252D3D"/>
                </a:solidFill>
                <a:latin typeface="Apple SD Gothic Neo"/>
              </a:rPr>
              <a:t>입력 예시
‘ㅋㅋㅋ &amp;amp; 이번 패치 ㄹㅇ...’
긴 본문 / HTML / 반복 공백 / 게시판 표현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33872" y="3154680"/>
            <a:ext cx="502920" cy="411480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23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874519"/>
            <a:ext cx="5074920" cy="3291840"/>
          </a:xfrm>
          <a:prstGeom prst="roundRect">
            <a:avLst/>
          </a:prstGeom>
          <a:solidFill>
            <a:srgbClr val="FFF8EB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900" b="1">
                <a:solidFill>
                  <a:srgbClr val="252D3D"/>
                </a:solidFill>
                <a:latin typeface="Apple SD Gothic Neo"/>
              </a:rPr>
              <a:t>정리 결과
HTML 해제 · 공백 정리 · 은어 사전 적용
너무 짧은 글 제외 · 최대 길이 제한
제목 + 본문을 분석용 텍스트로 구성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23560"/>
            <a:ext cx="106984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0">
                <a:solidFill>
                  <a:srgbClr val="667085"/>
                </a:solidFill>
                <a:latin typeface="Apple SD Gothic Neo"/>
              </a:rPr>
              <a:t>이미지가 있으면 캡션을 덧붙일 수 있지만, 현재 기본 캡셔닝은 준비 상태에 따라 stub일 수 있습니다.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234440" cy="347472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임베딩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21C30"/>
                </a:solidFill>
                <a:latin typeface="Apple SD Gothic Neo"/>
              </a:rPr>
              <a:t>3단계 — 글의 의미를 숫자 좌표로 바꿉니다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61872"/>
            <a:ext cx="1097280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67085"/>
                </a:solidFill>
                <a:latin typeface="Apple SD Gothic Neo"/>
              </a:rPr>
              <a:t>임베딩은 ‘뜻이 비슷한 문장은 지도에서 가까운 점’이 되도록 만드는 기술입니다.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67085"/>
                </a:solidFill>
                <a:latin typeface="Apple SD Gothic Neo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703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800" b="1">
                <a:solidFill>
                  <a:srgbClr val="252D3D"/>
                </a:solidFill>
                <a:latin typeface="Apple SD Gothic Neo"/>
              </a:rPr>
              <a:t>‘신캐 스킬이 작동 안 함’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63240"/>
            <a:ext cx="3703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800" b="1">
                <a:solidFill>
                  <a:srgbClr val="252D3D"/>
                </a:solidFill>
                <a:latin typeface="Apple SD Gothic Neo"/>
              </a:rPr>
              <a:t>‘새 캐릭터 기술 버그’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97680"/>
            <a:ext cx="3703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667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800" b="1">
                <a:solidFill>
                  <a:srgbClr val="252D3D"/>
                </a:solidFill>
                <a:latin typeface="Apple SD Gothic Neo"/>
              </a:rPr>
              <a:t>‘오늘 점심 뭐 먹지’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48840"/>
            <a:ext cx="1371600" cy="2468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spcAft>
                <a:spcPts val="500"/>
              </a:spcAft>
            </a:pPr>
            <a:r>
              <a:rPr sz="2300" b="1">
                <a:solidFill>
                  <a:srgbClr val="2F6FED"/>
                </a:solidFill>
                <a:latin typeface="Apple SD Gothic Neo"/>
              </a:rPr>
              <a:t>→</a:t>
            </a:r>
          </a:p>
          <a:p>
            <a:pPr algn="ctr">
              <a:spcAft>
                <a:spcPts val="500"/>
              </a:spcAft>
            </a:pPr>
            <a:r>
              <a:rPr sz="2300" b="1">
                <a:solidFill>
                  <a:srgbClr val="2F6FED"/>
                </a:solidFill>
                <a:latin typeface="Apple SD Gothic Neo"/>
              </a:rPr>
              <a:t/>
            </a:r>
          </a:p>
          <a:p>
            <a:pPr algn="ctr">
              <a:spcAft>
                <a:spcPts val="500"/>
              </a:spcAft>
            </a:pPr>
            <a:r>
              <a:rPr sz="2300" b="1">
                <a:solidFill>
                  <a:srgbClr val="2F6FED"/>
                </a:solidFill>
                <a:latin typeface="Apple SD Gothic Neo"/>
              </a:rPr>
              <a:t>→</a:t>
            </a:r>
          </a:p>
          <a:p>
            <a:pPr algn="ctr">
              <a:spcAft>
                <a:spcPts val="500"/>
              </a:spcAft>
            </a:pPr>
            <a:r>
              <a:rPr sz="2300" b="1">
                <a:solidFill>
                  <a:srgbClr val="2F6FED"/>
                </a:solidFill>
                <a:latin typeface="Apple SD Gothic Neo"/>
              </a:rPr>
              <a:t/>
            </a:r>
          </a:p>
          <a:p>
            <a:pPr algn="ctr">
              <a:spcAft>
                <a:spcPts val="500"/>
              </a:spcAft>
            </a:pPr>
            <a:r>
              <a:rPr sz="23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783080"/>
            <a:ext cx="5440680" cy="3657600"/>
          </a:xfrm>
          <a:prstGeom prst="roundRect">
            <a:avLst/>
          </a:prstGeom>
          <a:solidFill>
            <a:srgbClr val="EFF7FF"/>
          </a:solidFill>
          <a:ln>
            <a:solidFill>
              <a:srgbClr val="22B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800" b="1">
                <a:solidFill>
                  <a:srgbClr val="252D3D"/>
                </a:solidFill>
                <a:latin typeface="Apple SD Gothic Neo"/>
              </a:rPr>
              <a:t>의미 지도(1024차원)
● A  ● B   ← 서로 가까움
                         ● C ← 멀리 떨어짐
실제 UI에 좌표를 그리는 것은 아니며, 코사인 유사도로 방향의 가까움을 계산합니다.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E04F5F"/>
                </a:solidFill>
                <a:latin typeface="Apple SD Gothic Neo"/>
              </a:rPr>
              <a:t>중요: 임베딩은 새 글마다 한 번만 계산해 DB에 저장합니다. 모델을 바꾸면 전량 재계산과 임계값 재조정이 필요합니다.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234440" cy="347472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기초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21C30"/>
                </a:solidFill>
                <a:latin typeface="Apple SD Gothic Neo"/>
              </a:rPr>
              <a:t>코사인 유사도는 무엇인가요?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61872"/>
            <a:ext cx="1097280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67085"/>
                </a:solidFill>
                <a:latin typeface="Apple SD Gothic Neo"/>
              </a:rPr>
              <a:t>두 의미 벡터가 같은 방향을 보는 정도: 1에 가까울수록 비슷합니다.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67085"/>
                </a:solidFill>
                <a:latin typeface="Apple SD Gothic Neo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23774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900" b="1">
                <a:solidFill>
                  <a:srgbClr val="252D3D"/>
                </a:solidFill>
                <a:latin typeface="Apple SD Gothic Neo"/>
              </a:rPr>
              <a:t>0.95
거의 같은 글·도배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79" y="2011680"/>
            <a:ext cx="23774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900" b="1">
                <a:solidFill>
                  <a:srgbClr val="252D3D"/>
                </a:solidFill>
                <a:latin typeface="Apple SD Gothic Neo"/>
              </a:rPr>
              <a:t>0.85
상당히 유사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23774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900" b="1">
                <a:solidFill>
                  <a:srgbClr val="252D3D"/>
                </a:solidFill>
                <a:latin typeface="Apple SD Gothic Neo"/>
              </a:rPr>
              <a:t>0.70
주제 연결 후보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9719" y="2011680"/>
            <a:ext cx="23774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667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900" b="1">
                <a:solidFill>
                  <a:srgbClr val="252D3D"/>
                </a:solidFill>
                <a:latin typeface="Apple SD Gothic Neo"/>
              </a:rPr>
              <a:t>0.30
관련성 낮음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977639"/>
            <a:ext cx="10652760" cy="1234440"/>
          </a:xfrm>
          <a:prstGeom prst="roundRect">
            <a:avLst/>
          </a:prstGeom>
          <a:solidFill>
            <a:srgbClr val="FFF7EB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800" b="1">
                <a:solidFill>
                  <a:srgbClr val="252D3D"/>
                </a:solidFill>
                <a:latin typeface="Apple SD Gothic Neo"/>
              </a:rPr>
              <a:t>주의: 숫자의 의미는 임베딩 모델과 실제 데이터에 따라 달라집니다.
이 프로그램의 값은 KURE-v1과 실제 24시간 게시글 표본을 기준으로 보정한 운영 설정입니다.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234440" cy="347472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카테고리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21C30"/>
                </a:solidFill>
                <a:latin typeface="Apple SD Gothic Neo"/>
              </a:rPr>
              <a:t>4단계 — 카테고리는 ‘글의 큰 성격’을 분류합니다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61872"/>
            <a:ext cx="1097280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67085"/>
                </a:solidFill>
                <a:latin typeface="Apple SD Gothic Neo"/>
              </a:rPr>
              <a:t>카테고리는 계속 유지되는 자산이며, 게임별로 분리됩니다.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67085"/>
                </a:solidFill>
                <a:latin typeface="Apple SD Gothic Neo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29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800" b="1">
                <a:solidFill>
                  <a:srgbClr val="252D3D"/>
                </a:solidFill>
                <a:latin typeface="Apple SD Gothic Neo"/>
              </a:rPr>
              <a:t>일반  |  잡담·질문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828800"/>
            <a:ext cx="3429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800" b="1">
                <a:solidFill>
                  <a:srgbClr val="252D3D"/>
                </a:solidFill>
                <a:latin typeface="Apple SD Gothic Neo"/>
              </a:rPr>
              <a:t>콘텐츠  |  캐릭터·공략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828800"/>
            <a:ext cx="3429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800" b="1">
                <a:solidFill>
                  <a:srgbClr val="252D3D"/>
                </a:solidFill>
                <a:latin typeface="Apple SD Gothic Neo"/>
              </a:rPr>
              <a:t>운영  |  공지·제재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154680"/>
            <a:ext cx="3429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800" b="1">
                <a:solidFill>
                  <a:srgbClr val="252D3D"/>
                </a:solidFill>
                <a:latin typeface="Apple SD Gothic Neo"/>
              </a:rPr>
              <a:t>밸런스  |  성능·너프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3154680"/>
            <a:ext cx="3429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800" b="1">
                <a:solidFill>
                  <a:srgbClr val="252D3D"/>
                </a:solidFill>
                <a:latin typeface="Apple SD Gothic Neo"/>
              </a:rPr>
              <a:t>과금  |  상품·가격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3154680"/>
            <a:ext cx="3429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800" b="1">
                <a:solidFill>
                  <a:srgbClr val="252D3D"/>
                </a:solidFill>
                <a:latin typeface="Apple SD Gothic Neo"/>
              </a:rPr>
              <a:t>버그  |  오류·장애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800600"/>
            <a:ext cx="10515600" cy="960120"/>
          </a:xfrm>
          <a:prstGeom prst="roundRect">
            <a:avLst/>
          </a:prstGeom>
          <a:solidFill>
            <a:srgbClr val="EBF2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600" b="1">
                <a:solidFill>
                  <a:srgbClr val="252D3D"/>
                </a:solidFill>
                <a:latin typeface="Apple SD Gothic Neo"/>
              </a:rPr>
              <a:t>카테고리 ID·이름·중심벡터·누적 글 수·마지막 알림 시각이 DB에 남습니다.
분석을 다시 실행해도 번호가 매번 바뀌는 임시 클러스터가 아닙니다.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234440" cy="347472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카테고리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21C30"/>
                </a:solidFill>
                <a:latin typeface="Apple SD Gothic Neo"/>
              </a:rPr>
              <a:t>카테고리 배정의 실제 근거: 2단계 하이브리드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61872"/>
            <a:ext cx="1097280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67085"/>
                </a:solidFill>
                <a:latin typeface="Apple SD Gothic Neo"/>
              </a:rPr>
              <a:t>코드상 assign_posts()가 새 글마다 아래 순서를 따릅니다.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67085"/>
                </a:solidFill>
                <a:latin typeface="Apple SD Gothic Neo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200400" cy="3611880"/>
          </a:xfrm>
          <a:prstGeom prst="roundRect">
            <a:avLst/>
          </a:prstGeom>
          <a:solidFill>
            <a:srgbClr val="EBFAF6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800" b="1">
                <a:solidFill>
                  <a:srgbClr val="252D3D"/>
                </a:solidFill>
                <a:latin typeface="Apple SD Gothic Neo"/>
              </a:rPr>
              <a:t>1. 벡터 빠른 경로
기존 카테고리 중심과 비교
CATEGORY_ASSIGN_SIM 이상이면 즉시 배정
현재 설계상 이 경로는 ‘거의 같은 글’ 위주
LLM 호출을 줄이는 지름길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3337560"/>
            <a:ext cx="502920" cy="411480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23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828800"/>
            <a:ext cx="3200400" cy="3611880"/>
          </a:xfrm>
          <a:prstGeom prst="roundRect">
            <a:avLst/>
          </a:prstGeom>
          <a:solidFill>
            <a:srgbClr val="F1EDFF"/>
          </a:solidFill>
          <a:ln>
            <a:solidFill>
              <a:srgbClr val="84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800" b="1">
                <a:solidFill>
                  <a:srgbClr val="252D3D"/>
                </a:solidFill>
                <a:latin typeface="Apple SD Gothic Neo"/>
              </a:rPr>
              <a:t>2. Gemma 의미 판단
유사한 기존 카테고리 후보 K개와 글을 함께 제시
기존 이름을 고르거나
필요하면 새 카테고리 이름 생성
언어 의미가 주 근거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3337560"/>
            <a:ext cx="502920" cy="411480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23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1828800"/>
            <a:ext cx="3017520" cy="3611880"/>
          </a:xfrm>
          <a:prstGeom prst="roundRect">
            <a:avLst/>
          </a:prstGeom>
          <a:solidFill>
            <a:srgbClr val="EBF2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800" b="1">
                <a:solidFill>
                  <a:srgbClr val="252D3D"/>
                </a:solidFill>
                <a:latin typeface="Apple SD Gothic Neo"/>
              </a:rPr>
              <a:t>3. 영속 저장
post.category_id 기록
카테고리 중심 갱신
post_count 증가
중심 갱신은 상한에서 멈춰 ‘잡담 블랙홀’로 표류하는 것을 방지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234440" cy="347472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설계 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21C30"/>
                </a:solidFill>
                <a:latin typeface="Apple SD Gothic Neo"/>
              </a:rPr>
              <a:t>왜 카테고리를 벡터만으로 정하지 않나요?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61872"/>
            <a:ext cx="1097280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67085"/>
                </a:solidFill>
                <a:latin typeface="Apple SD Gothic Neo"/>
              </a:rPr>
              <a:t>실측 결과, 큰 분류의 의미 경계는 벡터 거리만으로 잘 갈리지 않았습니다.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67085"/>
                </a:solidFill>
                <a:latin typeface="Apple SD Gothic Neo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2000" b="1">
                <a:solidFill>
                  <a:srgbClr val="252D3D"/>
                </a:solidFill>
                <a:latin typeface="Apple SD Gothic Neo"/>
              </a:rPr>
              <a:t>실측
글 ↔ 자기 카테고리 중심: 약 0.661
글 ↔ 다른 카테고리 중심: 약 0.653
차이가 너무 작아 임계값을 어디에 두어도
통과율과 오배정률이 함께 움직였습니다.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5212080" cy="3429000"/>
          </a:xfrm>
          <a:prstGeom prst="roundRect">
            <a:avLst/>
          </a:prstGeom>
          <a:solidFill>
            <a:srgbClr val="F1EDFF"/>
          </a:solidFill>
          <a:ln>
            <a:solidFill>
              <a:srgbClr val="84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2000" b="1">
                <a:solidFill>
                  <a:srgbClr val="252D3D"/>
                </a:solidFill>
                <a:latin typeface="Apple SD Gothic Neo"/>
              </a:rPr>
              <a:t>결론
‘버그인가, 밸런스 불만인가?’는
단어의 가까움보다 문맥 이해가 중요합니다.
따라서 카테고리의 주 배정자는 Gemma,
벡터는 근사 중복용 빠른 경로입니다.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234440" cy="347472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주제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21C30"/>
                </a:solidFill>
                <a:latin typeface="Apple SD Gothic Neo"/>
              </a:rPr>
              <a:t>5단계 — 주제는 ‘지금 같이 떠오른 구체 이슈’를 묶습니다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61872"/>
            <a:ext cx="1097280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67085"/>
                </a:solidFill>
                <a:latin typeface="Apple SD Gothic Neo"/>
              </a:rPr>
              <a:t>최근 분석 창(기본 24시간)의 글을 의미 벡터로 묶습니다.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67085"/>
                </a:solidFill>
                <a:latin typeface="Apple SD Gothic Neo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246120" cy="3566160"/>
          </a:xfrm>
          <a:prstGeom prst="roundRect">
            <a:avLst/>
          </a:prstGeom>
          <a:solidFill>
            <a:srgbClr val="EBFAF6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800" b="1">
                <a:solidFill>
                  <a:srgbClr val="252D3D"/>
                </a:solidFill>
                <a:latin typeface="Apple SD Gothic Neo"/>
              </a:rPr>
              <a:t>① 가까운 점 연결
TOPIC_LINK_SIM 기본 0.70
탐욕적 그룹화로 가까운 글을 같은 묶음에 연결
최소 TOPIC_MIN_SIZE 기본 4건 이상이어야 주제로 인정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3337560"/>
            <a:ext cx="457200" cy="365760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23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828800"/>
            <a:ext cx="3246120" cy="3566160"/>
          </a:xfrm>
          <a:prstGeom prst="roundRect">
            <a:avLst/>
          </a:prstGeom>
          <a:solidFill>
            <a:srgbClr val="EBF2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800" b="1">
                <a:solidFill>
                  <a:srgbClr val="252D3D"/>
                </a:solidFill>
                <a:latin typeface="Apple SD Gothic Neo"/>
              </a:rPr>
              <a:t>② 기존 주제 추적
묶음 중심과 저장된 주제 중심 비교
TOPIC_MATCH_SIM 기본 0.85 이상이면 기존 topic_id 유지
아니면 신규 주제로 생성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337560"/>
            <a:ext cx="457200" cy="365760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23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828800"/>
            <a:ext cx="3108960" cy="3566160"/>
          </a:xfrm>
          <a:prstGeom prst="roundRect">
            <a:avLst/>
          </a:prstGeom>
          <a:solidFill>
            <a:srgbClr val="F1EDFF"/>
          </a:solidFill>
          <a:ln>
            <a:solidFill>
              <a:srgbClr val="84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800" b="1">
                <a:solidFill>
                  <a:srgbClr val="252D3D"/>
                </a:solidFill>
                <a:latin typeface="Apple SD Gothic Neo"/>
              </a:rPr>
              <a:t>③ 이름과 소속 정제
Gemma가 대표 글을 보고 이름 부여
멤버 글 O/X 검증
표류 시 재명명
갈라진 주제는 자동 또는 LLM 병합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234440" cy="347472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품질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21C30"/>
                </a:solidFill>
                <a:latin typeface="Apple SD Gothic Neo"/>
              </a:rPr>
              <a:t>주제 묶음이 틀어지는 것을 어떻게 막나요?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61872"/>
            <a:ext cx="1097280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67085"/>
                </a:solidFill>
                <a:latin typeface="Apple SD Gothic Neo"/>
              </a:rPr>
              <a:t>실시간 게시판은 잡담·도배·대화 표류가 있어 정화 장치가 필요합니다.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67085"/>
                </a:solidFill>
                <a:latin typeface="Apple SD Gothic Neo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257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500" b="1">
                <a:solidFill>
                  <a:srgbClr val="252D3D"/>
                </a:solidFill>
                <a:latin typeface="Apple SD Gothic Neo"/>
              </a:rPr>
              <a:t>멤버 검증
주제명과 각 글이 실제로 맞는지 Gemma가 O/X 판정. X는 주제 상세에서도 제외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783080"/>
            <a:ext cx="5257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500" b="1">
                <a:solidFill>
                  <a:srgbClr val="252D3D"/>
                </a:solidFill>
                <a:latin typeface="Apple SD Gothic Neo"/>
              </a:rPr>
              <a:t>드리프트 재명명
현재 중심이 이름을 붙였던 중심과 0.85 미만으로 멀어지면 이름을 다시 생성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5257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84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500" b="1">
                <a:solidFill>
                  <a:srgbClr val="252D3D"/>
                </a:solidFill>
                <a:latin typeface="Apple SD Gothic Neo"/>
              </a:rPr>
              <a:t>자동 병합
두 주제 중심 유사도가 0.90 이상이면 같은 주제로 자동 병합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200400"/>
            <a:ext cx="5257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500" b="1">
                <a:solidFill>
                  <a:srgbClr val="252D3D"/>
                </a:solidFill>
                <a:latin typeface="Apple SD Gothic Neo"/>
              </a:rPr>
              <a:t>애매한 병합
0.75 이상 0.90 미만은 Gemma가 같은 사건인지 판정하고 결과를 캐시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617720"/>
            <a:ext cx="5257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500" b="1">
                <a:solidFill>
                  <a:srgbClr val="252D3D"/>
                </a:solidFill>
                <a:latin typeface="Apple SD Gothic Neo"/>
              </a:rPr>
              <a:t>생성 시 편입
새 묶음이 기존 주제와 애매하게 가깝다면 이름 생성 단계에서 기존 사건 편입 여부 판단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617720"/>
            <a:ext cx="5257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500" b="1">
                <a:solidFill>
                  <a:srgbClr val="252D3D"/>
                </a:solidFill>
                <a:latin typeface="Apple SD Gothic Neo"/>
              </a:rPr>
              <a:t>HDBSCAN 안전망
별도 유지보수 도구로 카테고리 중복·누락 후보를 점검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234440" cy="347472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버스트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21C30"/>
                </a:solidFill>
                <a:latin typeface="Apple SD Gothic Neo"/>
              </a:rPr>
              <a:t>6단계 — ‘많다’가 아니라 ‘갑자기 뜨겁다’를 찾습니다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61872"/>
            <a:ext cx="1097280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67085"/>
                </a:solidFill>
                <a:latin typeface="Apple SD Gothic Neo"/>
              </a:rPr>
              <a:t>각 카테고리와 주제에 시간 감쇠 열기(heat)를 계산합니다.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67085"/>
                </a:solidFill>
                <a:latin typeface="Apple SD Gothic Neo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246120" cy="3474720"/>
          </a:xfrm>
          <a:prstGeom prst="roundRect">
            <a:avLst/>
          </a:prstGeom>
          <a:solidFill>
            <a:srgbClr val="FFF8EB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900" b="1">
                <a:solidFill>
                  <a:srgbClr val="252D3D"/>
                </a:solidFill>
                <a:latin typeface="Apple SD Gothic Neo"/>
              </a:rPr>
              <a:t>시간 감쇠
방금 올라온 글 = 큰 가중치
오래된 글 = 작은 가중치
기본 반감기 30분
30분 전 글은 현재 글의 절반 정도 영향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246120" cy="3474720"/>
          </a:xfrm>
          <a:prstGeom prst="roundRect">
            <a:avLst/>
          </a:prstGeom>
          <a:solidFill>
            <a:srgbClr val="FFEFF1"/>
          </a:solidFill>
          <a:ln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900" b="1">
                <a:solidFill>
                  <a:srgbClr val="252D3D"/>
                </a:solidFill>
                <a:latin typeface="Apple SD Gothic Neo"/>
              </a:rPr>
              <a:t>급증 조건
최근 창 기본 60분
평소 대비 기본 3배
최소 최근 글 기본 5건
비율 + 절대량을 함께 봐 작은 표본 오탐 방지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828800"/>
            <a:ext cx="3246120" cy="3474720"/>
          </a:xfrm>
          <a:prstGeom prst="roundRect">
            <a:avLst/>
          </a:prstGeom>
          <a:solidFill>
            <a:srgbClr val="EBF2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900" b="1">
                <a:solidFill>
                  <a:srgbClr val="252D3D"/>
                </a:solidFill>
                <a:latin typeface="Apple SD Gothic Neo"/>
              </a:rPr>
              <a:t>대상 구분
카테고리 heat: 화면의 큰 흐름
주제 heat: 실제 알림 판단 기준
버스트가 아닌 주제는 비싼 요약·판단을 실행하지 않음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234440" cy="347472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알림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21C30"/>
                </a:solidFill>
                <a:latin typeface="Apple SD Gothic Neo"/>
              </a:rPr>
              <a:t>7단계 — 급증한 주제만 요약하고 알림 O/X를 판단합니다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61872"/>
            <a:ext cx="1097280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67085"/>
                </a:solidFill>
                <a:latin typeface="Apple SD Gothic Neo"/>
              </a:rPr>
              <a:t>알림 직전에는 멤버를 다시 검증해 섞인 글이 판단을 오염시키지 않게 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67085"/>
                </a:solidFill>
                <a:latin typeface="Apple SD Gothic Neo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1600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>버스트
급증 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75688" y="2542032"/>
            <a:ext cx="274320" cy="274320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23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2103120"/>
            <a:ext cx="1600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>재검증
이물질 제거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95928" y="2542032"/>
            <a:ext cx="274320" cy="274320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23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103120"/>
            <a:ext cx="1600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22B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>요약
대표 글 최대 15건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16168" y="2542032"/>
            <a:ext cx="274320" cy="274320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23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03120"/>
            <a:ext cx="1600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84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>라벨
adapters4 다수결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36408" y="2542032"/>
            <a:ext cx="274320" cy="274320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23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103120"/>
            <a:ext cx="1600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>판단
adapters3 O/X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56648" y="2542032"/>
            <a:ext cx="274320" cy="274320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23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2103120"/>
            <a:ext cx="1600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500" b="1">
                <a:solidFill>
                  <a:srgbClr val="252D3D"/>
                </a:solidFill>
                <a:latin typeface="Apple SD Gothic Neo"/>
              </a:rPr>
              <a:t>발송
쿨다운 확인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069080"/>
            <a:ext cx="10835640" cy="1234440"/>
          </a:xfrm>
          <a:prstGeom prst="roundRect">
            <a:avLst/>
          </a:prstGeom>
          <a:solidFill>
            <a:srgbClr val="F1EDFF"/>
          </a:solidFill>
          <a:ln>
            <a:solidFill>
              <a:srgbClr val="84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700" b="1">
                <a:solidFill>
                  <a:srgbClr val="252D3D"/>
                </a:solidFill>
                <a:latin typeface="Apple SD Gothic Neo"/>
              </a:rPr>
              <a:t>판단 입력 형식:  주제 라벨 ___ 요약 제목 ___ 요약 본문
O = 운영팀에 즉시 알릴 가치가 있음  |  X = 지금은 알리지 않음
O와 X 모두 이력에 남기고, 담당자 피드백을 다음 파인튜닝 데이터로 내보낼 수 있습니다.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234440" cy="347472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종결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21C30"/>
                </a:solidFill>
                <a:latin typeface="Apple SD Gothic Neo"/>
              </a:rPr>
              <a:t>알림 이후에는 ‘소강’도 감시합니다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61872"/>
            <a:ext cx="1097280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67085"/>
                </a:solidFill>
                <a:latin typeface="Apple SD Gothic Neo"/>
              </a:rPr>
              <a:t>이슈가 끝났다는 신호는 LLM 없이 수치로 판단합니다.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67085"/>
                </a:solidFill>
                <a:latin typeface="Apple SD Gothic Neo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3154680" cy="3291840"/>
          </a:xfrm>
          <a:prstGeom prst="roundRect">
            <a:avLst/>
          </a:prstGeom>
          <a:solidFill>
            <a:srgbClr val="FFEFF1"/>
          </a:solidFill>
          <a:ln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800" b="1">
                <a:solidFill>
                  <a:srgbClr val="252D3D"/>
                </a:solidFill>
                <a:latin typeface="Apple SD Gothic Neo"/>
              </a:rPr>
              <a:t>알림 시점
주제의 최고 heat를 기록
last_alerted_at 저장
같은 주제 재알림은 기본 60분 쿨다운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3246120"/>
            <a:ext cx="502920" cy="365760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23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920240"/>
            <a:ext cx="3154680" cy="3291840"/>
          </a:xfrm>
          <a:prstGeom prst="roundRect">
            <a:avLst/>
          </a:prstGeom>
          <a:solidFill>
            <a:srgbClr val="FFF8EB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800" b="1">
                <a:solidFill>
                  <a:srgbClr val="252D3D"/>
                </a:solidFill>
                <a:latin typeface="Apple SD Gothic Neo"/>
              </a:rPr>
              <a:t>소강 조건
현재 heat ≤ 정점의 25%
AND 최근 글 &lt; 최소 글 수
조건이 기본 10사이클 연속 유지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3246120"/>
            <a:ext cx="502920" cy="365760"/>
          </a:xfrm>
          <a:prstGeom prst="round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2300" b="1">
                <a:solidFill>
                  <a:srgbClr val="2F6FED"/>
                </a:solidFill>
                <a:latin typeface="Apple SD Gothic Neo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1920240"/>
            <a:ext cx="2834640" cy="3291840"/>
          </a:xfrm>
          <a:prstGeom prst="roundRect">
            <a:avLst/>
          </a:prstGeom>
          <a:solidFill>
            <a:srgbClr val="EBFAF6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800" b="1">
                <a:solidFill>
                  <a:srgbClr val="252D3D"/>
                </a:solidFill>
                <a:latin typeface="Apple SD Gothic Neo"/>
              </a:rPr>
              <a:t>종료 신호
‘정점 → 현재 heat’와 최근 글 수를 요약해 소강 알림 저장·발송
플래핑 방지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234440" cy="347472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화면 안내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21C30"/>
                </a:solidFill>
                <a:latin typeface="Apple SD Gothic Neo"/>
              </a:rPr>
              <a:t>사용자 화면에서는 이렇게 읽으면 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61872"/>
            <a:ext cx="1097280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67085"/>
                </a:solidFill>
                <a:latin typeface="Apple SD Gothic Neo"/>
              </a:rPr>
              <a:t>Vue 화면은 10~15초 간격으로 최신 서버 상태를 다시 읽습니다.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67085"/>
                </a:solidFill>
                <a:latin typeface="Apple SD Gothic Neo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53492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600" b="1">
                <a:solidFill>
                  <a:srgbClr val="252D3D"/>
                </a:solidFill>
                <a:latin typeface="Apple SD Gothic Neo"/>
              </a:rPr>
              <a:t>실시간 관제
슬롯 상태·운영 다이얼·카테고리/주제 열기·최근 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3492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600" b="1">
                <a:solidFill>
                  <a:srgbClr val="252D3D"/>
                </a:solidFill>
                <a:latin typeface="Apple SD Gothic Neo"/>
              </a:rPr>
              <a:t>주제
구체 이슈 목록. 알림 → 버스트 → heat 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154680"/>
            <a:ext cx="53492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22B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600" b="1">
                <a:solidFill>
                  <a:srgbClr val="252D3D"/>
                </a:solidFill>
                <a:latin typeface="Apple SD Gothic Neo"/>
              </a:rPr>
              <a:t>카테고리
큰 분류의 누적 흐름과 스파크라인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154680"/>
            <a:ext cx="53492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600" b="1">
                <a:solidFill>
                  <a:srgbClr val="252D3D"/>
                </a:solidFill>
                <a:latin typeface="Apple SD Gothic Neo"/>
              </a:rPr>
              <a:t>알림
현재 O 판정과 O/X 이력·담당자 피드백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572000"/>
            <a:ext cx="53492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84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600" b="1">
                <a:solidFill>
                  <a:srgbClr val="252D3D"/>
                </a:solidFill>
                <a:latin typeface="Apple SD Gothic Neo"/>
              </a:rPr>
              <a:t>타임머신
과거 스냅샷 재생·구간 알림/상위 주제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572000"/>
            <a:ext cx="53492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600" b="1">
                <a:solidFill>
                  <a:srgbClr val="252D3D"/>
                </a:solidFill>
                <a:latin typeface="Apple SD Gothic Neo"/>
              </a:rPr>
              <a:t>점검 도구
HDBSCAN·코사인 실험·Gemma 분석·판단 테스트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234440" cy="347472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주의사항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21C30"/>
                </a:solidFill>
                <a:latin typeface="Apple SD Gothic Neo"/>
              </a:rPr>
              <a:t>결과를 해석할 때 꼭 알아야 할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61872"/>
            <a:ext cx="1097280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67085"/>
                </a:solidFill>
                <a:latin typeface="Apple SD Gothic Neo"/>
              </a:rPr>
              <a:t>이 시스템은 ‘자동 정답기’가 아니라 운영자가 빠르게 볼 후보를 만드는 관제 도구입니다.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67085"/>
                </a:solidFill>
                <a:latin typeface="Apple SD Gothic Neo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52D3D"/>
                </a:solidFill>
                <a:latin typeface="Apple SD Gothic Neo"/>
              </a:defRPr>
            </a:pPr>
            <a:r>
              <a:t>유사도 임계값은 보편적 진리가 아닙니다. 임베딩 모델·게임·게시판 문화가 바뀌면 재보정해야 합니다.</a:t>
            </a:r>
          </a:p>
          <a:p>
            <a:pPr>
              <a:spcAft>
                <a:spcPts val="1000"/>
              </a:spcAft>
              <a:defRPr sz="1700">
                <a:solidFill>
                  <a:srgbClr val="252D3D"/>
                </a:solidFill>
                <a:latin typeface="Apple SD Gothic Neo"/>
              </a:defRPr>
            </a:pPr>
            <a:r>
              <a:t>Gemma 분류·이름·검증·알림 판단은 오분류할 수 있습니다. 알림 화면의 피드백이 개선 데이터가 됩니다.</a:t>
            </a:r>
          </a:p>
          <a:p>
            <a:pPr>
              <a:spcAft>
                <a:spcPts val="1000"/>
              </a:spcAft>
              <a:defRPr sz="1700">
                <a:solidFill>
                  <a:srgbClr val="252D3D"/>
                </a:solidFill>
                <a:latin typeface="Apple SD Gothic Neo"/>
              </a:defRPr>
            </a:pPr>
            <a:r>
              <a:t>카테고리는 의미 중심, 주제는 벡터 중심이라 서로 1:1 관계가 아닙니다.</a:t>
            </a:r>
          </a:p>
          <a:p>
            <a:pPr>
              <a:spcAft>
                <a:spcPts val="1000"/>
              </a:spcAft>
              <a:defRPr sz="1700">
                <a:solidFill>
                  <a:srgbClr val="252D3D"/>
                </a:solidFill>
                <a:latin typeface="Apple SD Gothic Neo"/>
              </a:defRPr>
            </a:pPr>
            <a:r>
              <a:t>글이 4건 미만이면 의미가 있어도 주제로 표시되지 않을 수 있습니다.</a:t>
            </a:r>
          </a:p>
          <a:p>
            <a:pPr>
              <a:spcAft>
                <a:spcPts val="1000"/>
              </a:spcAft>
              <a:defRPr sz="1700">
                <a:solidFill>
                  <a:srgbClr val="252D3D"/>
                </a:solidFill>
                <a:latin typeface="Apple SD Gothic Neo"/>
              </a:defRPr>
            </a:pPr>
            <a:r>
              <a:t>새로운 이슈는 기존 주제와 0.85 미만이면 새 ID로 생길 수 있고, 이후 병합될 수 있습니다.</a:t>
            </a:r>
          </a:p>
          <a:p>
            <a:pPr>
              <a:spcAft>
                <a:spcPts val="1000"/>
              </a:spcAft>
              <a:defRPr sz="1700">
                <a:solidFill>
                  <a:srgbClr val="252D3D"/>
                </a:solidFill>
                <a:latin typeface="Apple SD Gothic Neo"/>
              </a:defRPr>
            </a:pPr>
            <a:r>
              <a:t>실제 외부 알림 채널 연결 지점은 현재 send_alert()이며 기본 구현은 로그 출력입니다.</a:t>
            </a:r>
          </a:p>
          <a:p>
            <a:pPr>
              <a:spcAft>
                <a:spcPts val="1000"/>
              </a:spcAft>
              <a:defRPr sz="1700">
                <a:solidFill>
                  <a:srgbClr val="252D3D"/>
                </a:solidFill>
                <a:latin typeface="Apple SD Gothic Neo"/>
              </a:defRPr>
            </a:pPr>
            <a:r>
              <a:t>이미지 캡셔닝·요약은 설정된 backend 준비 상태에 따라 stub으로 동작할 수 있습니다.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234440" cy="347472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설정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21C30"/>
                </a:solidFill>
                <a:latin typeface="Apple SD Gothic Neo"/>
              </a:rPr>
              <a:t>운영자가 조정하는 핵심 다이얼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61872"/>
            <a:ext cx="1097280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67085"/>
                </a:solidFill>
                <a:latin typeface="Apple SD Gothic Neo"/>
              </a:rPr>
              <a:t>한 값을 바꾸면 정확도·속도·비용 사이의 균형이 달라집니다.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67085"/>
                </a:solidFill>
                <a:latin typeface="Apple SD Gothic Neo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3337560" cy="475488"/>
          </a:xfrm>
          <a:prstGeom prst="roundRect">
            <a:avLst/>
          </a:prstGeom>
          <a:solidFill>
            <a:srgbClr val="EBF2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300" b="1">
                <a:solidFill>
                  <a:srgbClr val="252D3D"/>
                </a:solidFill>
                <a:latin typeface="Apple SD Gothic Neo"/>
              </a:rPr>
              <a:t>CATEGORY_ASSIGN_SIM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1691640"/>
            <a:ext cx="32461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300" b="1">
                <a:solidFill>
                  <a:srgbClr val="252D3D"/>
                </a:solidFill>
                <a:latin typeface="Apple SD Gothic Neo"/>
              </a:rPr>
              <a:t>카테고리 벡터 빠른 배정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691640"/>
            <a:ext cx="42519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300" b="0">
                <a:solidFill>
                  <a:srgbClr val="252D3D"/>
                </a:solidFill>
                <a:latin typeface="Apple SD Gothic Neo"/>
              </a:rPr>
              <a:t>낮추면 오배정↑ / 높이면 LLM 호출↑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313432"/>
            <a:ext cx="3337560" cy="475488"/>
          </a:xfrm>
          <a:prstGeom prst="roundRect">
            <a:avLst/>
          </a:prstGeom>
          <a:solidFill>
            <a:srgbClr val="EBF2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300" b="1">
                <a:solidFill>
                  <a:srgbClr val="252D3D"/>
                </a:solidFill>
                <a:latin typeface="Apple SD Gothic Neo"/>
              </a:rPr>
              <a:t>TOPIC_LINK_SIM = 0.70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2313432"/>
            <a:ext cx="32461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300" b="1">
                <a:solidFill>
                  <a:srgbClr val="252D3D"/>
                </a:solidFill>
                <a:latin typeface="Apple SD Gothic Neo"/>
              </a:rPr>
              <a:t>글끼리 주제 연결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313432"/>
            <a:ext cx="42519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300" b="0">
                <a:solidFill>
                  <a:srgbClr val="252D3D"/>
                </a:solidFill>
                <a:latin typeface="Apple SD Gothic Neo"/>
              </a:rPr>
              <a:t>낮추면 큰 잡탕 / 높이면 잘게 분열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935224"/>
            <a:ext cx="3337560" cy="475488"/>
          </a:xfrm>
          <a:prstGeom prst="roundRect">
            <a:avLst/>
          </a:prstGeom>
          <a:solidFill>
            <a:srgbClr val="EBF2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300" b="1">
                <a:solidFill>
                  <a:srgbClr val="252D3D"/>
                </a:solidFill>
                <a:latin typeface="Apple SD Gothic Neo"/>
              </a:rPr>
              <a:t>TOPIC_MATCH_SIM = 0.85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2935224"/>
            <a:ext cx="32461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300" b="1">
                <a:solidFill>
                  <a:srgbClr val="252D3D"/>
                </a:solidFill>
                <a:latin typeface="Apple SD Gothic Neo"/>
              </a:rPr>
              <a:t>기존 주제 ID 유지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2935224"/>
            <a:ext cx="42519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300" b="0">
                <a:solidFill>
                  <a:srgbClr val="252D3D"/>
                </a:solidFill>
                <a:latin typeface="Apple SD Gothic Neo"/>
              </a:rPr>
              <a:t>낮추면 흡수 / 높이면 새 주제 증가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557016"/>
            <a:ext cx="3337560" cy="475488"/>
          </a:xfrm>
          <a:prstGeom prst="roundRect">
            <a:avLst/>
          </a:prstGeom>
          <a:solidFill>
            <a:srgbClr val="EBF2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300" b="1">
                <a:solidFill>
                  <a:srgbClr val="252D3D"/>
                </a:solidFill>
                <a:latin typeface="Apple SD Gothic Neo"/>
              </a:rPr>
              <a:t>TOPIC_AUTO_MERGE_SIM = 0.90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3557016"/>
            <a:ext cx="32461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300" b="1">
                <a:solidFill>
                  <a:srgbClr val="252D3D"/>
                </a:solidFill>
                <a:latin typeface="Apple SD Gothic Neo"/>
              </a:rPr>
              <a:t>자동 병합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3557016"/>
            <a:ext cx="42519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300" b="0">
                <a:solidFill>
                  <a:srgbClr val="252D3D"/>
                </a:solidFill>
                <a:latin typeface="Apple SD Gothic Neo"/>
              </a:rPr>
              <a:t>낮추면 블랙홀 병합 위험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178808"/>
            <a:ext cx="3337560" cy="475488"/>
          </a:xfrm>
          <a:prstGeom prst="roundRect">
            <a:avLst/>
          </a:prstGeom>
          <a:solidFill>
            <a:srgbClr val="EBF2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300" b="1">
                <a:solidFill>
                  <a:srgbClr val="252D3D"/>
                </a:solidFill>
                <a:latin typeface="Apple SD Gothic Neo"/>
              </a:rPr>
              <a:t>HALF_LIFE_MIN = 30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360" y="4178808"/>
            <a:ext cx="32461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300" b="1">
                <a:solidFill>
                  <a:srgbClr val="252D3D"/>
                </a:solidFill>
                <a:latin typeface="Apple SD Gothic Neo"/>
              </a:rPr>
              <a:t>오래된 글 영향 감소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4178808"/>
            <a:ext cx="42519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300" b="0">
                <a:solidFill>
                  <a:srgbClr val="252D3D"/>
                </a:solidFill>
                <a:latin typeface="Apple SD Gothic Neo"/>
              </a:rPr>
              <a:t>짧으면 민감 / 길면 오래 뜨거움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800600"/>
            <a:ext cx="3337560" cy="475488"/>
          </a:xfrm>
          <a:prstGeom prst="roundRect">
            <a:avLst/>
          </a:prstGeom>
          <a:solidFill>
            <a:srgbClr val="EBF2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300" b="1">
                <a:solidFill>
                  <a:srgbClr val="252D3D"/>
                </a:solidFill>
                <a:latin typeface="Apple SD Gothic Neo"/>
              </a:rPr>
              <a:t>BURST_RATIO = 3 · MIN_RECENT = 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4800600"/>
            <a:ext cx="32461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300" b="1">
                <a:solidFill>
                  <a:srgbClr val="252D3D"/>
                </a:solidFill>
                <a:latin typeface="Apple SD Gothic Neo"/>
              </a:rPr>
              <a:t>급증 판정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60920" y="4800600"/>
            <a:ext cx="42519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300" b="0">
                <a:solidFill>
                  <a:srgbClr val="252D3D"/>
                </a:solidFill>
                <a:latin typeface="Apple SD Gothic Neo"/>
              </a:rPr>
              <a:t>낮추면 민감·오탐 / 높이면 보수적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422392"/>
            <a:ext cx="3337560" cy="475488"/>
          </a:xfrm>
          <a:prstGeom prst="roundRect">
            <a:avLst/>
          </a:prstGeom>
          <a:solidFill>
            <a:srgbClr val="EBF2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300" b="1">
                <a:solidFill>
                  <a:srgbClr val="252D3D"/>
                </a:solidFill>
                <a:latin typeface="Apple SD Gothic Neo"/>
              </a:rPr>
              <a:t>COOLDOWN_MIN = 60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23360" y="5422392"/>
            <a:ext cx="32461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300" b="1">
                <a:solidFill>
                  <a:srgbClr val="252D3D"/>
                </a:solidFill>
                <a:latin typeface="Apple SD Gothic Neo"/>
              </a:rPr>
              <a:t>같은 주제 재알림 제한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5422392"/>
            <a:ext cx="42519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300" b="0">
                <a:solidFill>
                  <a:srgbClr val="252D3D"/>
                </a:solidFill>
                <a:latin typeface="Apple SD Gothic Neo"/>
              </a:rPr>
              <a:t>짧으면 반복 / 길면 재점화 놓침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234440" cy="347472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참고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21C30"/>
                </a:solidFill>
                <a:latin typeface="Apple SD Gothic Neo"/>
              </a:rPr>
              <a:t>코드 기준: 설명의 근거가 되는 주요 위치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261872"/>
            <a:ext cx="1097280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67085"/>
                </a:solidFill>
                <a:latin typeface="Apple SD Gothic Neo"/>
              </a:rPr>
              <a:t>PPT 내용은 현재 작업 트리의 실제 구현을 기준으로 작성했습니다.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67085"/>
                </a:solidFill>
                <a:latin typeface="Apple SD Gothic Neo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2331720" cy="640080"/>
          </a:xfrm>
          <a:prstGeom prst="roundRect">
            <a:avLst/>
          </a:prstGeom>
          <a:solidFill>
            <a:srgbClr val="EEF1F8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300" b="1">
                <a:solidFill>
                  <a:srgbClr val="252D3D"/>
                </a:solidFill>
                <a:latin typeface="Apple SD Gothic Neo"/>
              </a:rPr>
              <a:t>app/main.py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39" y="1691640"/>
            <a:ext cx="28346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300" b="0">
                <a:solidFill>
                  <a:srgbClr val="252D3D"/>
                </a:solidFill>
                <a:latin typeface="Apple SD Gothic Neo"/>
              </a:rPr>
              <a:t>주기 수집·분석 루프, Gemma 큐 워커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91640"/>
            <a:ext cx="2331720" cy="640080"/>
          </a:xfrm>
          <a:prstGeom prst="roundRect">
            <a:avLst/>
          </a:prstGeom>
          <a:solidFill>
            <a:srgbClr val="EEF1F8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300" b="1">
                <a:solidFill>
                  <a:srgbClr val="252D3D"/>
                </a:solidFill>
                <a:latin typeface="Apple SD Gothic Neo"/>
              </a:rPr>
              <a:t>app/services/pipeline.py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1691640"/>
            <a:ext cx="28346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300" b="0">
                <a:solidFill>
                  <a:srgbClr val="252D3D"/>
                </a:solidFill>
                <a:latin typeface="Apple SD Gothic Neo"/>
              </a:rPr>
              <a:t>전체 연결, heat·버스트·요약·판정·소강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23744"/>
            <a:ext cx="2331720" cy="640080"/>
          </a:xfrm>
          <a:prstGeom prst="roundRect">
            <a:avLst/>
          </a:prstGeom>
          <a:solidFill>
            <a:srgbClr val="EEF1F8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300" b="1">
                <a:solidFill>
                  <a:srgbClr val="252D3D"/>
                </a:solidFill>
                <a:latin typeface="Apple SD Gothic Neo"/>
              </a:rPr>
              <a:t>app/services/categorize.py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39" y="2523744"/>
            <a:ext cx="28346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300" b="0">
                <a:solidFill>
                  <a:srgbClr val="252D3D"/>
                </a:solidFill>
                <a:latin typeface="Apple SD Gothic Neo"/>
              </a:rPr>
              <a:t>카테고리 벡터 빠른 경로 + Gemma 분류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523744"/>
            <a:ext cx="2331720" cy="640080"/>
          </a:xfrm>
          <a:prstGeom prst="roundRect">
            <a:avLst/>
          </a:prstGeom>
          <a:solidFill>
            <a:srgbClr val="EEF1F8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300" b="1">
                <a:solidFill>
                  <a:srgbClr val="252D3D"/>
                </a:solidFill>
                <a:latin typeface="Apple SD Gothic Neo"/>
              </a:rPr>
              <a:t>app/services/topics.py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2523744"/>
            <a:ext cx="28346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300" b="0">
                <a:solidFill>
                  <a:srgbClr val="252D3D"/>
                </a:solidFill>
                <a:latin typeface="Apple SD Gothic Neo"/>
              </a:rPr>
              <a:t>주제 묶기·영속 추적·검증·재명명·병합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55848"/>
            <a:ext cx="2331720" cy="640080"/>
          </a:xfrm>
          <a:prstGeom prst="roundRect">
            <a:avLst/>
          </a:prstGeom>
          <a:solidFill>
            <a:srgbClr val="EEF1F8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300" b="1">
                <a:solidFill>
                  <a:srgbClr val="252D3D"/>
                </a:solidFill>
                <a:latin typeface="Apple SD Gothic Neo"/>
              </a:rPr>
              <a:t>app/services/detection.py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63239" y="3355848"/>
            <a:ext cx="28346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300" b="0">
                <a:solidFill>
                  <a:srgbClr val="252D3D"/>
                </a:solidFill>
                <a:latin typeface="Apple SD Gothic Neo"/>
              </a:rPr>
              <a:t>시간 감쇠와 버스트 공식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355848"/>
            <a:ext cx="2331720" cy="640080"/>
          </a:xfrm>
          <a:prstGeom prst="roundRect">
            <a:avLst/>
          </a:prstGeom>
          <a:solidFill>
            <a:srgbClr val="EEF1F8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300" b="1">
                <a:solidFill>
                  <a:srgbClr val="252D3D"/>
                </a:solidFill>
                <a:latin typeface="Apple SD Gothic Neo"/>
              </a:rPr>
              <a:t>app/services/gemma_analyze.py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3355848"/>
            <a:ext cx="28346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300" b="0">
                <a:solidFill>
                  <a:srgbClr val="252D3D"/>
                </a:solidFill>
                <a:latin typeface="Apple SD Gothic Neo"/>
              </a:rPr>
              <a:t>글 단위 대분류·주제 라벨·감성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187952"/>
            <a:ext cx="2331720" cy="640080"/>
          </a:xfrm>
          <a:prstGeom prst="roundRect">
            <a:avLst/>
          </a:prstGeom>
          <a:solidFill>
            <a:srgbClr val="EEF1F8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300" b="1">
                <a:solidFill>
                  <a:srgbClr val="252D3D"/>
                </a:solidFill>
                <a:latin typeface="Apple SD Gothic Neo"/>
              </a:rPr>
              <a:t>app/db.py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63239" y="4187952"/>
            <a:ext cx="28346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300" b="0">
                <a:solidFill>
                  <a:srgbClr val="252D3D"/>
                </a:solidFill>
                <a:latin typeface="Apple SD Gothic Neo"/>
              </a:rPr>
              <a:t>게시글·카테고리·주제·점수·스냅샷·알림 저장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187952"/>
            <a:ext cx="2331720" cy="640080"/>
          </a:xfrm>
          <a:prstGeom prst="roundRect">
            <a:avLst/>
          </a:prstGeom>
          <a:solidFill>
            <a:srgbClr val="EEF1F8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300" b="1">
                <a:solidFill>
                  <a:srgbClr val="252D3D"/>
                </a:solidFill>
                <a:latin typeface="Apple SD Gothic Neo"/>
              </a:rPr>
              <a:t>app/routers/analysis.py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0" y="4187952"/>
            <a:ext cx="28346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300" b="0">
                <a:solidFill>
                  <a:srgbClr val="252D3D"/>
                </a:solidFill>
                <a:latin typeface="Apple SD Gothic Neo"/>
              </a:rPr>
              <a:t>사용자 화면이 호출하는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20056"/>
            <a:ext cx="2331720" cy="640080"/>
          </a:xfrm>
          <a:prstGeom prst="roundRect">
            <a:avLst/>
          </a:prstGeom>
          <a:solidFill>
            <a:srgbClr val="EEF1F8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300" b="1">
                <a:solidFill>
                  <a:srgbClr val="252D3D"/>
                </a:solidFill>
                <a:latin typeface="Apple SD Gothic Neo"/>
              </a:rPr>
              <a:t>frontend/src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63239" y="5020056"/>
            <a:ext cx="28346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l"/>
            <a:r>
              <a:rPr sz="1300" b="0">
                <a:solidFill>
                  <a:srgbClr val="252D3D"/>
                </a:solidFill>
                <a:latin typeface="Apple SD Gothic Neo"/>
              </a:rPr>
              <a:t>Vue MVVM 화면·폴링·게임 선택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234440" cy="347472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1200" b="1">
                <a:solidFill>
                  <a:srgbClr val="FFFFFF"/>
                </a:solidFill>
                <a:latin typeface="Apple SD Gothic Neo"/>
              </a:rPr>
              <a:t>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21C30"/>
                </a:solidFill>
                <a:latin typeface="Apple SD Gothic Neo"/>
              </a:rPr>
              <a:t>마지막으로 기억할 세 문장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667085"/>
                </a:solidFill>
                <a:latin typeface="Apple SD Gothic Neo"/>
              </a:rP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61320" cy="1051560"/>
          </a:xfrm>
          <a:prstGeom prst="roundRect">
            <a:avLst/>
          </a:prstGeom>
          <a:solidFill>
            <a:srgbClr val="EBF2FF"/>
          </a:solidFill>
          <a:ln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2100" b="1">
                <a:solidFill>
                  <a:srgbClr val="252D3D"/>
                </a:solidFill>
                <a:latin typeface="Apple SD Gothic Neo"/>
              </a:rPr>
              <a:t>1. 카테고리는 글의 ‘큰 성격’이며, 문맥을 이해하는 Gemma가 주로 결정합니다.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063240"/>
            <a:ext cx="10561320" cy="1051560"/>
          </a:xfrm>
          <a:prstGeom prst="roundRect">
            <a:avLst/>
          </a:prstGeom>
          <a:solidFill>
            <a:srgbClr val="EBFAF6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2000" b="1">
                <a:solidFill>
                  <a:srgbClr val="252D3D"/>
                </a:solidFill>
                <a:latin typeface="Apple SD Gothic Neo"/>
              </a:rPr>
              <a:t>2. 주제는 ‘지금 같이 떠오른 구체 이슈’이며, 임베딩 벡터의 가까움으로 묶고 Gemma가 이름·검증·병합을 돕습니다.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343400"/>
            <a:ext cx="10561320" cy="1051560"/>
          </a:xfrm>
          <a:prstGeom prst="roundRect">
            <a:avLst/>
          </a:prstGeom>
          <a:solidFill>
            <a:srgbClr val="F1EDFF"/>
          </a:solidFill>
          <a:ln>
            <a:solidFill>
              <a:srgbClr val="84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91440"/>
          <a:lstStyle/>
          <a:p>
            <a:pPr algn="ctr"/>
            <a:r>
              <a:rPr sz="2100" b="1">
                <a:solidFill>
                  <a:srgbClr val="252D3D"/>
                </a:solidFill>
                <a:latin typeface="Apple SD Gothic Neo"/>
              </a:rPr>
              <a:t>3. 알림은 급증한 주제만 요약·판단하며, 피드백과 이력으로 운영 품질을 계속 개선합니다.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