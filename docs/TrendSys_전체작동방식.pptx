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94360"/>
            <a:ext cx="2377440" cy="411480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pple SD Gothic Neo"/>
              </a:rPr>
              <a:t>TrendSys 작동 방식 안내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972800" cy="1371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3400" b="1">
                <a:solidFill>
                  <a:srgbClr val="FFFFFF"/>
                </a:solidFill>
                <a:latin typeface="Apple SD Gothic Neo"/>
              </a:rPr>
              <a:t>게시판의 수천 개 글이</a:t>
            </a:r>
          </a:p>
          <a:p>
            <a:pPr algn="l">
              <a:spcAft>
                <a:spcPts val="500"/>
              </a:spcAft>
            </a:pPr>
            <a:r>
              <a:rPr sz="3400" b="1">
                <a:solidFill>
                  <a:srgbClr val="FFFFFF"/>
                </a:solidFill>
                <a:latin typeface="Apple SD Gothic Neo"/>
              </a:rPr>
              <a:t>'알림 한 줄'이 되기까지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71800"/>
            <a:ext cx="1042416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BECDE6"/>
                </a:solidFill>
                <a:latin typeface="Apple SD Gothic Neo"/>
              </a:rPr>
              <a:t>전체 파이프라인을 순서대로 · 흐름도 중심 · 개발 지식 불필요  (2026-07-13 코드 기준)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480560"/>
            <a:ext cx="3383280" cy="1371600"/>
          </a:xfrm>
          <a:prstGeom prst="roundRect">
            <a:avLst/>
          </a:prstGeom>
          <a:solidFill>
            <a:srgbClr val="1D2B46"/>
          </a:solidFill>
          <a:ln>
            <a:solidFill>
              <a:srgbClr val="3F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Apple SD Gothic Neo"/>
              </a:rPr>
              <a:t>읽는다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Apple SD Gothic Neo"/>
              </a:rPr>
              <a:t>매분 수집해 AI가 다 읽음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4480560"/>
            <a:ext cx="3383280" cy="1371600"/>
          </a:xfrm>
          <a:prstGeom prst="roundRect">
            <a:avLst/>
          </a:prstGeom>
          <a:solidFill>
            <a:srgbClr val="1D2B46"/>
          </a:solidFill>
          <a:ln>
            <a:solidFill>
              <a:srgbClr val="3F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Apple SD Gothic Neo"/>
              </a:rPr>
              <a:t>묶는다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Apple SD Gothic Neo"/>
              </a:rPr>
              <a:t>같은 이야기끼리 자동으로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4480560"/>
            <a:ext cx="3383280" cy="1371600"/>
          </a:xfrm>
          <a:prstGeom prst="roundRect">
            <a:avLst/>
          </a:prstGeom>
          <a:solidFill>
            <a:srgbClr val="1D2B46"/>
          </a:solidFill>
          <a:ln>
            <a:solidFill>
              <a:srgbClr val="3F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Apple SD Gothic Neo"/>
              </a:rPr>
              <a:t>알린다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Apple SD Gothic Neo"/>
              </a:rPr>
              <a:t>갑자기 커진 사건만 골라서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417320" cy="347472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왜 필요한가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121C30"/>
                </a:solidFill>
                <a:latin typeface="Apple SD Gothic Neo"/>
              </a:rPr>
              <a:t>이 시스템이 풀려는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61872"/>
            <a:ext cx="1115568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67085"/>
                </a:solidFill>
                <a:latin typeface="Apple SD Gothic Neo"/>
              </a:rPr>
              <a:t>게시판 여론은 빠르고, 사람은 다 읽을 수 없습니다.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67085"/>
                </a:solidFill>
                <a:latin typeface="Apple SD Gothic Neo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03520" cy="3566160"/>
          </a:xfrm>
          <a:prstGeom prst="roundRect">
            <a:avLst/>
          </a:prstGeom>
          <a:solidFill>
            <a:srgbClr val="FFEFF1"/>
          </a:solidFill>
          <a:ln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800" b="1">
                <a:solidFill>
                  <a:srgbClr val="252D3D"/>
                </a:solidFill>
                <a:latin typeface="Apple SD Gothic Neo"/>
              </a:rPr>
              <a:t>문제</a:t>
            </a:r>
          </a:p>
          <a:p>
            <a:pPr algn="l"/>
            <a:r>
              <a:rPr sz="1800" b="1">
                <a:solidFill>
                  <a:srgbClr val="252D3D"/>
                </a:solidFill>
                <a:latin typeface="Apple SD Gothic Neo"/>
              </a:rPr>
              <a:t/>
            </a:r>
          </a:p>
          <a:p>
            <a:pPr algn="l"/>
            <a:r>
              <a:rPr sz="1800" b="1">
                <a:solidFill>
                  <a:srgbClr val="252D3D"/>
                </a:solidFill>
                <a:latin typeface="Apple SD Gothic Neo"/>
              </a:rPr>
              <a:t>· 갤러리에 하루 800~2,400개의 글</a:t>
            </a:r>
          </a:p>
          <a:p>
            <a:pPr algn="l"/>
            <a:r>
              <a:rPr sz="1800" b="1">
                <a:solidFill>
                  <a:srgbClr val="252D3D"/>
                </a:solidFill>
                <a:latin typeface="Apple SD Gothic Neo"/>
              </a:rPr>
              <a:t>· 반어·밈·욕설이 섞여 그대로 읽기 어려움</a:t>
            </a:r>
          </a:p>
          <a:p>
            <a:pPr algn="l"/>
            <a:r>
              <a:rPr sz="1800" b="1">
                <a:solidFill>
                  <a:srgbClr val="252D3D"/>
                </a:solidFill>
                <a:latin typeface="Apple SD Gothic Neo"/>
              </a:rPr>
              <a:t>· 진짜 사건(버그·결제 장애·민심 폭발)은</a:t>
            </a:r>
          </a:p>
          <a:p>
            <a:pPr algn="l"/>
            <a:r>
              <a:rPr sz="1800" b="1">
                <a:solidFill>
                  <a:srgbClr val="252D3D"/>
                </a:solidFill>
                <a:latin typeface="Apple SD Gothic Neo"/>
              </a:rPr>
              <a:t>  잡담 사이에 묻혀서 뒤늦게 발견됨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303520" cy="3566160"/>
          </a:xfrm>
          <a:prstGeom prst="roundRect">
            <a:avLst/>
          </a:prstGeom>
          <a:solidFill>
            <a:srgbClr val="EBFAF6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800" b="1">
                <a:solidFill>
                  <a:srgbClr val="252D3D"/>
                </a:solidFill>
                <a:latin typeface="Apple SD Gothic Neo"/>
              </a:rPr>
              <a:t>해법 — 24시간 자동 관제</a:t>
            </a:r>
          </a:p>
          <a:p>
            <a:pPr algn="l"/>
            <a:r>
              <a:rPr sz="1800" b="1">
                <a:solidFill>
                  <a:srgbClr val="252D3D"/>
                </a:solidFill>
                <a:latin typeface="Apple SD Gothic Neo"/>
              </a:rPr>
              <a:t/>
            </a:r>
          </a:p>
          <a:p>
            <a:pPr algn="l"/>
            <a:r>
              <a:rPr sz="1800" b="1">
                <a:solidFill>
                  <a:srgbClr val="252D3D"/>
                </a:solidFill>
                <a:latin typeface="Apple SD Gothic Neo"/>
              </a:rPr>
              <a:t>· 매분 새 글을 수집해 AI가 전부 읽음</a:t>
            </a:r>
          </a:p>
          <a:p>
            <a:pPr algn="l"/>
            <a:r>
              <a:rPr sz="1800" b="1">
                <a:solidFill>
                  <a:srgbClr val="252D3D"/>
                </a:solidFill>
                <a:latin typeface="Apple SD Gothic Neo"/>
              </a:rPr>
              <a:t>· 글을 '종류(카테고리)'와 '사건(주제)'으로 정리</a:t>
            </a:r>
          </a:p>
          <a:p>
            <a:pPr algn="l"/>
            <a:r>
              <a:rPr sz="1800" b="1">
                <a:solidFill>
                  <a:srgbClr val="252D3D"/>
                </a:solidFill>
                <a:latin typeface="Apple SD Gothic Neo"/>
              </a:rPr>
              <a:t>· 갑자기 커지는 사건만 요약해서 알림</a:t>
            </a:r>
          </a:p>
          <a:p>
            <a:pPr algn="l"/>
            <a:r>
              <a:rPr sz="1800" b="1">
                <a:solidFill>
                  <a:srgbClr val="252D3D"/>
                </a:solidFill>
                <a:latin typeface="Apple SD Gothic Neo"/>
              </a:rPr>
              <a:t>· 모든 AI는 이 컴퓨터 안에서 동작 (외부 유출 없음)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23560"/>
            <a:ext cx="1078992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121C30"/>
                </a:solidFill>
                <a:latin typeface="Apple SD Gothic Neo"/>
              </a:rPr>
              <a:t>핵심 철학: 값싼 계산(벡터·규칙)으로 후보를 좁히고, 비싼 AI 판단은 좁힌 곳에만 씁니다.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417320" cy="347472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큰 그림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121C30"/>
                </a:solidFill>
                <a:latin typeface="Apple SD Gothic Neo"/>
              </a:rPr>
              <a:t>전체 흐름 한 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61872"/>
            <a:ext cx="1115568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67085"/>
                </a:solidFill>
                <a:latin typeface="Apple SD Gothic Neo"/>
              </a:rPr>
              <a:t>글 하나가 들어와서 알림이 되기까지 — 아래 순서대로 이 자료가 설명합니다.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67085"/>
                </a:solidFill>
                <a:latin typeface="Apple SD Gothic Neo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2148840"/>
            <a:ext cx="1298448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① 수집</a:t>
            </a:r>
          </a:p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매분 새 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64207" y="2670048"/>
            <a:ext cx="228600" cy="274320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1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65376" y="2148840"/>
            <a:ext cx="1298448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② 정리</a:t>
            </a:r>
          </a:p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은어·중복 정돈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45536" y="2670048"/>
            <a:ext cx="228600" cy="274320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1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6704" y="2148840"/>
            <a:ext cx="1298448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22B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③ 좌표화</a:t>
            </a:r>
          </a:p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뜻을 숫자로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26864" y="2670048"/>
            <a:ext cx="228600" cy="274320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1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8032" y="2148840"/>
            <a:ext cx="1298448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84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④ 글 읽기</a:t>
            </a:r>
          </a:p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종류·감성 분류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08192" y="2670048"/>
            <a:ext cx="228600" cy="274320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1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148840"/>
            <a:ext cx="1298448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⑤ 주제 묶기</a:t>
            </a:r>
          </a:p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같은 사건끼리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2670048"/>
            <a:ext cx="228600" cy="274320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1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90688" y="2148840"/>
            <a:ext cx="1298448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⑥ 급증 감지</a:t>
            </a:r>
          </a:p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갑자기 뜨거운가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70848" y="2670048"/>
            <a:ext cx="228600" cy="274320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1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72016" y="2148840"/>
            <a:ext cx="1298448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⑦ 판단</a:t>
            </a:r>
          </a:p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알릴 가치 O/X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52176" y="2670048"/>
            <a:ext cx="228600" cy="274320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1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753344" y="2148840"/>
            <a:ext cx="1298448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12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⑧ 알림·화면</a:t>
            </a:r>
          </a:p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관제 대시보드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069080"/>
            <a:ext cx="5486400" cy="1737360"/>
          </a:xfrm>
          <a:prstGeom prst="roundRect">
            <a:avLst/>
          </a:prstGeom>
          <a:solidFill>
            <a:srgbClr val="EEF1F8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500" b="1">
                <a:solidFill>
                  <a:srgbClr val="252D3D"/>
                </a:solidFill>
                <a:latin typeface="Apple SD Gothic Neo"/>
              </a:rPr>
              <a:t>쉬지 않는 일꾼 4명 (백그라운드 루프)</a:t>
            </a:r>
          </a:p>
          <a:p>
            <a:pPr algn="l"/>
            <a:r>
              <a:rPr sz="1500" b="1">
                <a:solidFill>
                  <a:srgbClr val="252D3D"/>
                </a:solidFill>
                <a:latin typeface="Apple SD Gothic Neo"/>
              </a:rPr>
              <a:t>· 수집 루프: 매분 새 글 가져와 저장·좌표화</a:t>
            </a:r>
          </a:p>
          <a:p>
            <a:pPr algn="l"/>
            <a:r>
              <a:rPr sz="1500" b="1">
                <a:solidFill>
                  <a:srgbClr val="252D3D"/>
                </a:solidFill>
                <a:latin typeface="Apple SD Gothic Neo"/>
              </a:rPr>
              <a:t>· 분석 루프: 매분 주제·급증·알림 다시 계산</a:t>
            </a:r>
          </a:p>
          <a:p>
            <a:pPr algn="l"/>
            <a:r>
              <a:rPr sz="1500" b="1">
                <a:solidFill>
                  <a:srgbClr val="252D3D"/>
                </a:solidFill>
                <a:latin typeface="Apple SD Gothic Neo"/>
              </a:rPr>
              <a:t>· 글 읽기 워커: 밀린 글을 순서대로 정독</a:t>
            </a:r>
          </a:p>
          <a:p>
            <a:pPr algn="l"/>
            <a:r>
              <a:rPr sz="1500" b="1">
                <a:solidFill>
                  <a:srgbClr val="252D3D"/>
                </a:solidFill>
                <a:latin typeface="Apple SD Gothic Neo"/>
              </a:rPr>
              <a:t>· 이미지 워커: 첨부 사진을 읽어 글에 반영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069080"/>
            <a:ext cx="5120640" cy="1737360"/>
          </a:xfrm>
          <a:prstGeom prst="roundRect">
            <a:avLst/>
          </a:prstGeom>
          <a:solidFill>
            <a:srgbClr val="EBF2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500" b="1">
                <a:solidFill>
                  <a:srgbClr val="252D3D"/>
                </a:solidFill>
                <a:latin typeface="Apple SD Gothic Neo"/>
              </a:rPr>
              <a:t>글이 몰려도 안 잃어버립니다</a:t>
            </a:r>
          </a:p>
          <a:p>
            <a:pPr algn="l"/>
            <a:r>
              <a:rPr sz="1500" b="1">
                <a:solidFill>
                  <a:srgbClr val="252D3D"/>
                </a:solidFill>
                <a:latin typeface="Apple SD Gothic Neo"/>
              </a:rPr>
              <a:t/>
            </a:r>
          </a:p>
          <a:p>
            <a:pPr algn="l"/>
            <a:r>
              <a:rPr sz="1500" b="1">
                <a:solidFill>
                  <a:srgbClr val="252D3D"/>
                </a:solidFill>
                <a:latin typeface="Apple SD Gothic Neo"/>
              </a:rPr>
              <a:t>읽기·이미지 작업은 '대기열(큐)'에 쌓였다가</a:t>
            </a:r>
          </a:p>
          <a:p>
            <a:pPr algn="l"/>
            <a:r>
              <a:rPr sz="1500" b="1">
                <a:solidFill>
                  <a:srgbClr val="252D3D"/>
                </a:solidFill>
                <a:latin typeface="Apple SD Gothic Neo"/>
              </a:rPr>
              <a:t>한가할 때 자동으로 따라잡습니다.</a:t>
            </a:r>
          </a:p>
          <a:p>
            <a:pPr algn="l"/>
            <a:r>
              <a:rPr sz="1500" b="1">
                <a:solidFill>
                  <a:srgbClr val="252D3D"/>
                </a:solidFill>
                <a:latin typeface="Apple SD Gothic Neo"/>
              </a:rPr>
              <a:t>알림 감지는 그동안에도 계속 돕니다.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417320" cy="347472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등장인물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121C30"/>
                </a:solidFill>
                <a:latin typeface="Apple SD Gothic Neo"/>
              </a:rPr>
              <a:t>등장하는 AI — 전부 이 컴퓨터 안에서 돕니다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61872"/>
            <a:ext cx="1115568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67085"/>
                </a:solidFill>
                <a:latin typeface="Apple SD Gothic Neo"/>
              </a:rPr>
              <a:t>역할별로 다른 모델(또는 같은 모델의 다른 훈련본)을 씁니다. 외부 API·과금 없음.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67085"/>
                </a:solidFill>
                <a:latin typeface="Apple SD Gothic Neo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2103120" cy="768096"/>
          </a:xfrm>
          <a:prstGeom prst="roundRect">
            <a:avLst/>
          </a:prstGeom>
          <a:solidFill>
            <a:srgbClr val="22B8C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좌표 변환기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737360"/>
            <a:ext cx="265176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22B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KURE-v1 임베딩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737360"/>
            <a:ext cx="594360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400" b="0">
                <a:solidFill>
                  <a:srgbClr val="252D3D"/>
                </a:solidFill>
                <a:latin typeface="Apple SD Gothic Neo"/>
              </a:rPr>
              <a:t>글의 뜻을 1,024개 숫자 좌표로 변환 — '비슷한 글=가까운 점'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70048"/>
            <a:ext cx="2103120" cy="768096"/>
          </a:xfrm>
          <a:prstGeom prst="roundRect">
            <a:avLst/>
          </a:prstGeom>
          <a:solidFill>
            <a:srgbClr val="845EC2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글 읽기 담당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2670048"/>
            <a:ext cx="265176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84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Gemma 4 + 자체학습 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2670048"/>
            <a:ext cx="594360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400" b="0">
                <a:solidFill>
                  <a:srgbClr val="252D3D"/>
                </a:solidFill>
                <a:latin typeface="Apple SD Gothic Neo"/>
              </a:rPr>
              <a:t>글마다 주제문구·종류(6종)·감성(7종)을 뽑음 (글당 약 1초)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02736"/>
            <a:ext cx="2103120" cy="768096"/>
          </a:xfrm>
          <a:prstGeom prst="roundRect">
            <a:avLst/>
          </a:prstGeom>
          <a:solidFill>
            <a:srgbClr val="2F6FED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사회자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3602736"/>
            <a:ext cx="265176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Gemma 4 기본형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3602736"/>
            <a:ext cx="594360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400" b="0">
                <a:solidFill>
                  <a:srgbClr val="252D3D"/>
                </a:solidFill>
                <a:latin typeface="Apple SD Gothic Neo"/>
              </a:rPr>
              <a:t>주제 이름 짓기 · 멤버 검증 · 병합 판정 · 요약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35424"/>
            <a:ext cx="2103120" cy="768096"/>
          </a:xfrm>
          <a:prstGeom prst="roundRect">
            <a:avLst/>
          </a:prstGeom>
          <a:solidFill>
            <a:srgbClr val="E04F5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알림 판단관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34640" y="4535424"/>
            <a:ext cx="265176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Gemma 4 + 자체학습 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0" y="4535424"/>
            <a:ext cx="594360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400" b="0">
                <a:solidFill>
                  <a:srgbClr val="252D3D"/>
                </a:solidFill>
                <a:latin typeface="Apple SD Gothic Neo"/>
              </a:rPr>
              <a:t>요약을 보고 '운영팀에 알릴 사건인가' O/X 한 글자로 판단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468112"/>
            <a:ext cx="2103120" cy="768096"/>
          </a:xfrm>
          <a:prstGeom prst="roundRect">
            <a:avLst/>
          </a:prstGeom>
          <a:solidFill>
            <a:srgbClr val="27AE60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눈(이미지)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5468112"/>
            <a:ext cx="265176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Gemma 4 멀티모달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77840" y="5468112"/>
            <a:ext cx="594360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400" b="0">
                <a:solidFill>
                  <a:srgbClr val="252D3D"/>
                </a:solidFill>
                <a:latin typeface="Apple SD Gothic Neo"/>
              </a:rPr>
              <a:t>첨부 사진을 보고 글과 관련 있으면 한 문장으로 묘사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00800"/>
            <a:ext cx="1078992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67085"/>
                </a:solidFill>
                <a:latin typeface="Apple SD Gothic Neo"/>
              </a:rPr>
              <a:t>➍➌ = 우리 게시판 데이터로 따로 학습시킨 전용 모델 (GreatestStep 프로젝트)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417320" cy="347472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1단계 · 수집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121C30"/>
                </a:solidFill>
                <a:latin typeface="Apple SD Gothic Neo"/>
              </a:rPr>
              <a:t>① 수집 — 매분, 새 글만 가져옵니다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61872"/>
            <a:ext cx="1115568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67085"/>
                </a:solidFill>
                <a:latin typeface="Apple SD Gothic Neo"/>
              </a:rPr>
              <a:t>크롤러가 모아둔 원본 DB에서 '지난번 이후 글'만 증분으로 읽습니다.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67085"/>
                </a:solidFill>
                <a:latin typeface="Apple SD Gothic Neo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0175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600" b="1">
                <a:solidFill>
                  <a:srgbClr val="252D3D"/>
                </a:solidFill>
                <a:latin typeface="Apple SD Gothic Neo"/>
              </a:rPr>
              <a:t>크롤러 원본 DB</a:t>
            </a:r>
          </a:p>
          <a:p>
            <a:pPr algn="ctr"/>
            <a:r>
              <a:rPr sz="1600" b="1">
                <a:solidFill>
                  <a:srgbClr val="252D3D"/>
                </a:solidFill>
                <a:latin typeface="Apple SD Gothic Neo"/>
              </a:rPr>
              <a:t/>
            </a:r>
          </a:p>
          <a:p>
            <a:pPr algn="ctr"/>
            <a:r>
              <a:rPr sz="1600" b="1">
                <a:solidFill>
                  <a:srgbClr val="252D3D"/>
                </a:solidFill>
                <a:latin typeface="Apple SD Gothic Neo"/>
              </a:rPr>
              <a:t>디시인사이드 갤러리 글</a:t>
            </a:r>
          </a:p>
          <a:p>
            <a:pPr algn="ctr"/>
            <a:r>
              <a:rPr sz="1600" b="1">
                <a:solidFill>
                  <a:srgbClr val="252D3D"/>
                </a:solidFill>
                <a:latin typeface="Apple SD Gothic Neo"/>
              </a:rPr>
              <a:t>(제목·본문·시각·첨부)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2971800"/>
            <a:ext cx="502920" cy="411480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1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011680"/>
            <a:ext cx="3291840" cy="2377440"/>
          </a:xfrm>
          <a:prstGeom prst="roundRect">
            <a:avLst/>
          </a:prstGeom>
          <a:solidFill>
            <a:srgbClr val="EBF2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600" b="1">
                <a:solidFill>
                  <a:srgbClr val="252D3D"/>
                </a:solidFill>
                <a:latin typeface="Apple SD Gothic Neo"/>
              </a:rPr>
              <a:t>매분 1회</a:t>
            </a:r>
          </a:p>
          <a:p>
            <a:pPr algn="ctr"/>
            <a:r>
              <a:rPr sz="1600" b="1">
                <a:solidFill>
                  <a:srgbClr val="252D3D"/>
                </a:solidFill>
                <a:latin typeface="Apple SD Gothic Neo"/>
              </a:rPr>
              <a:t/>
            </a:r>
          </a:p>
          <a:p>
            <a:pPr algn="ctr"/>
            <a:r>
              <a:rPr sz="1600" b="1">
                <a:solidFill>
                  <a:srgbClr val="252D3D"/>
                </a:solidFill>
                <a:latin typeface="Apple SD Gothic Neo"/>
              </a:rPr>
              <a:t>'마지막으로 본 글 번호'</a:t>
            </a:r>
          </a:p>
          <a:p>
            <a:pPr algn="ctr"/>
            <a:r>
              <a:rPr sz="1600" b="1">
                <a:solidFill>
                  <a:srgbClr val="252D3D"/>
                </a:solidFill>
                <a:latin typeface="Apple SD Gothic Neo"/>
              </a:rPr>
              <a:t>이후의 새 글만 읽음</a:t>
            </a:r>
          </a:p>
          <a:p>
            <a:pPr algn="ctr"/>
            <a:r>
              <a:rPr sz="1600" b="1">
                <a:solidFill>
                  <a:srgbClr val="252D3D"/>
                </a:solidFill>
                <a:latin typeface="Apple SD Gothic Neo"/>
              </a:rPr>
              <a:t>(재시작해도 이어서)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2971800"/>
            <a:ext cx="502920" cy="411480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1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2011680"/>
            <a:ext cx="3017520" cy="2377440"/>
          </a:xfrm>
          <a:prstGeom prst="roundRect">
            <a:avLst/>
          </a:prstGeom>
          <a:solidFill>
            <a:srgbClr val="EBFAF6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600" b="1">
                <a:solidFill>
                  <a:srgbClr val="252D3D"/>
                </a:solidFill>
                <a:latin typeface="Apple SD Gothic Neo"/>
              </a:rPr>
              <a:t>TrendSys 저장소</a:t>
            </a:r>
          </a:p>
          <a:p>
            <a:pPr algn="ctr"/>
            <a:r>
              <a:rPr sz="1600" b="1">
                <a:solidFill>
                  <a:srgbClr val="252D3D"/>
                </a:solidFill>
                <a:latin typeface="Apple SD Gothic Neo"/>
              </a:rPr>
              <a:t/>
            </a:r>
          </a:p>
          <a:p>
            <a:pPr algn="ctr"/>
            <a:r>
              <a:rPr sz="1600" b="1">
                <a:solidFill>
                  <a:srgbClr val="252D3D"/>
                </a:solidFill>
                <a:latin typeface="Apple SD Gothic Neo"/>
              </a:rPr>
              <a:t>게임별로 분리 저장</a:t>
            </a:r>
          </a:p>
          <a:p>
            <a:pPr algn="ctr"/>
            <a:r>
              <a:rPr sz="1600" b="1">
                <a:solidFill>
                  <a:srgbClr val="252D3D"/>
                </a:solidFill>
                <a:latin typeface="Apple SD Gothic Neo"/>
              </a:rPr>
              <a:t>(세븐나이츠 리버스,</a:t>
            </a:r>
          </a:p>
          <a:p>
            <a:pPr algn="ctr"/>
            <a:r>
              <a:rPr sz="1600" b="1">
                <a:solidFill>
                  <a:srgbClr val="252D3D"/>
                </a:solidFill>
                <a:latin typeface="Apple SD Gothic Neo"/>
              </a:rPr>
              <a:t>나혼자만레벨업)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00600"/>
            <a:ext cx="10789920" cy="1005840"/>
          </a:xfrm>
          <a:prstGeom prst="roundRect">
            <a:avLst/>
          </a:prstGeom>
          <a:solidFill>
            <a:srgbClr val="EEF1F8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500" b="1">
                <a:solidFill>
                  <a:srgbClr val="252D3D"/>
                </a:solidFill>
                <a:latin typeface="Apple SD Gothic Neo"/>
              </a:rPr>
              <a:t>여러 게임을 한 화면에서 — 글마다 game_id 를 붙여 게임별 데이터가 절대 섞이지 않게 하고,</a:t>
            </a:r>
          </a:p>
          <a:p>
            <a:pPr algn="ctr"/>
            <a:r>
              <a:rPr sz="1500" b="1">
                <a:solidFill>
                  <a:srgbClr val="252D3D"/>
                </a:solidFill>
                <a:latin typeface="Apple SD Gothic Neo"/>
              </a:rPr>
              <a:t>화면 좌측의 게임 선택기로 전환합니다. 원본은 읽기 전용으로만 열어 크롤러와 충돌하지 않습니다.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417320" cy="347472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2단계 ·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121C30"/>
                </a:solidFill>
                <a:latin typeface="Apple SD Gothic Neo"/>
              </a:rPr>
              <a:t>② 정리 — 분석하기 좋은 문장으로 다듬습니다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61872"/>
            <a:ext cx="1115568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67085"/>
                </a:solidFill>
                <a:latin typeface="Apple SD Gothic Neo"/>
              </a:rPr>
              <a:t>원문은 그대로 두고, 분석용 텍스트를 따로 만듭니다.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67085"/>
                </a:solidFill>
                <a:latin typeface="Apple SD Gothic Neo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0749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600" b="1">
                <a:solidFill>
                  <a:srgbClr val="252D3D"/>
                </a:solidFill>
                <a:latin typeface="Apple SD Gothic Neo"/>
              </a:rPr>
              <a:t>들어온 원문</a:t>
            </a:r>
          </a:p>
          <a:p>
            <a:pPr algn="l"/>
            <a:r>
              <a:rPr sz="1600" b="1">
                <a:solidFill>
                  <a:srgbClr val="252D3D"/>
                </a:solidFill>
                <a:latin typeface="Apple SD Gothic Neo"/>
              </a:rPr>
              <a:t/>
            </a:r>
          </a:p>
          <a:p>
            <a:pPr algn="l"/>
            <a:r>
              <a:rPr sz="1600" b="1">
                <a:solidFill>
                  <a:srgbClr val="252D3D"/>
                </a:solidFill>
                <a:latin typeface="Apple SD Gothic Neo"/>
              </a:rPr>
              <a:t>"ㄹㅇ 이번 패치 &amp;amp; 튕김 실화냐...</a:t>
            </a:r>
          </a:p>
          <a:p>
            <a:pPr algn="l"/>
            <a:r>
              <a:rPr sz="1600" b="1">
                <a:solidFill>
                  <a:srgbClr val="252D3D"/>
                </a:solidFill>
                <a:latin typeface="Apple SD Gothic Neo"/>
              </a:rPr>
              <a:t>[첨부] https://dcimg8.../viewimage..."</a:t>
            </a:r>
          </a:p>
          <a:p>
            <a:pPr algn="l"/>
            <a:r>
              <a:rPr sz="1600" b="1">
                <a:solidFill>
                  <a:srgbClr val="252D3D"/>
                </a:solidFill>
                <a:latin typeface="Apple SD Gothic Neo"/>
              </a:rPr>
              <a:t/>
            </a:r>
          </a:p>
          <a:p>
            <a:pPr algn="l"/>
            <a:r>
              <a:rPr sz="1600" b="1">
                <a:solidFill>
                  <a:srgbClr val="252D3D"/>
                </a:solidFill>
                <a:latin typeface="Apple SD Gothic Neo"/>
              </a:rPr>
              <a:t>HTML 찌꺼기 · 은어 · 이미지 링크 · 앱 푸터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3200400"/>
            <a:ext cx="502920" cy="411480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1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920240"/>
            <a:ext cx="5074920" cy="3017520"/>
          </a:xfrm>
          <a:prstGeom prst="roundRect">
            <a:avLst/>
          </a:prstGeom>
          <a:solidFill>
            <a:srgbClr val="FFF8EB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600" b="1">
                <a:solidFill>
                  <a:srgbClr val="252D3D"/>
                </a:solidFill>
                <a:latin typeface="Apple SD Gothic Neo"/>
              </a:rPr>
              <a:t>정리 결과</a:t>
            </a:r>
          </a:p>
          <a:p>
            <a:pPr algn="l"/>
            <a:r>
              <a:rPr sz="1600" b="1">
                <a:solidFill>
                  <a:srgbClr val="252D3D"/>
                </a:solidFill>
                <a:latin typeface="Apple SD Gothic Neo"/>
              </a:rPr>
              <a:t/>
            </a:r>
          </a:p>
          <a:p>
            <a:pPr algn="l"/>
            <a:r>
              <a:rPr sz="1600" b="1">
                <a:solidFill>
                  <a:srgbClr val="252D3D"/>
                </a:solidFill>
                <a:latin typeface="Apple SD Gothic Neo"/>
              </a:rPr>
              <a:t>"진짜 이번 패치 강제 종료 실화냐"</a:t>
            </a:r>
          </a:p>
          <a:p>
            <a:pPr algn="l"/>
            <a:r>
              <a:rPr sz="1600" b="1">
                <a:solidFill>
                  <a:srgbClr val="252D3D"/>
                </a:solidFill>
                <a:latin typeface="Apple SD Gothic Neo"/>
              </a:rPr>
              <a:t/>
            </a:r>
          </a:p>
          <a:p>
            <a:pPr algn="l"/>
            <a:r>
              <a:rPr sz="1600" b="1">
                <a:solidFill>
                  <a:srgbClr val="252D3D"/>
                </a:solidFill>
                <a:latin typeface="Apple SD Gothic Neo"/>
              </a:rPr>
              <a:t>· 은어 사전 적용 (ㄹㅇ→진짜, 튕김→강제 종료)</a:t>
            </a:r>
          </a:p>
          <a:p>
            <a:pPr algn="l"/>
            <a:r>
              <a:rPr sz="1600" b="1">
                <a:solidFill>
                  <a:srgbClr val="252D3D"/>
                </a:solidFill>
                <a:latin typeface="Apple SD Gothic Neo"/>
              </a:rPr>
              <a:t>· 너무 짧은 글·완전 중복 제외</a:t>
            </a:r>
          </a:p>
          <a:p>
            <a:pPr algn="l"/>
            <a:r>
              <a:rPr sz="1600" b="1">
                <a:solidFill>
                  <a:srgbClr val="252D3D"/>
                </a:solidFill>
                <a:latin typeface="Apple SD Gothic Neo"/>
              </a:rPr>
              <a:t>· 첨부 이미지 주소는 따로 보관 → ⑤에서 사용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078992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0">
                <a:solidFill>
                  <a:srgbClr val="667085"/>
                </a:solidFill>
                <a:latin typeface="Apple SD Gothic Neo"/>
              </a:rPr>
              <a:t>은어 사전은 운영하며 계속 키웁니다 — "같은 얘기인데 안 묶인 글"이 발견될 때마다 원인 은어를 추가.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417320" cy="347472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3단계 · 임베딩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121C30"/>
                </a:solidFill>
                <a:latin typeface="Apple SD Gothic Neo"/>
              </a:rPr>
              <a:t>③ 좌표화 — 글의 '뜻'을 지도 위의 점으로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61872"/>
            <a:ext cx="1115568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67085"/>
                </a:solidFill>
                <a:latin typeface="Apple SD Gothic Neo"/>
              </a:rPr>
              <a:t>컴퓨터는 글자를 비교하지 못하므로, 뜻이 비슷한 글이 가까운 점이 되도록 숫자 좌표로 바꿉니다.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67085"/>
                </a:solidFill>
                <a:latin typeface="Apple SD Gothic Neo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657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600" b="1">
                <a:solidFill>
                  <a:srgbClr val="252D3D"/>
                </a:solidFill>
                <a:latin typeface="Apple SD Gothic Neo"/>
              </a:rPr>
              <a:t>"신캐 스킬이 작동 안 함"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71800"/>
            <a:ext cx="3657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600" b="1">
                <a:solidFill>
                  <a:srgbClr val="252D3D"/>
                </a:solidFill>
                <a:latin typeface="Apple SD Gothic Neo"/>
              </a:rPr>
              <a:t>"새 캐릭터 기술 버그"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14800"/>
            <a:ext cx="3657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667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600" b="1">
                <a:solidFill>
                  <a:srgbClr val="252D3D"/>
                </a:solidFill>
                <a:latin typeface="Apple SD Gothic Neo"/>
              </a:rPr>
              <a:t>"오늘 점심 뭐 먹지"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103120"/>
            <a:ext cx="1097280" cy="2743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>
                <a:solidFill>
                  <a:srgbClr val="22B8CF"/>
                </a:solidFill>
                <a:latin typeface="Apple SD Gothic Neo"/>
              </a:rPr>
              <a:t>→</a:t>
            </a:r>
          </a:p>
          <a:p>
            <a:pPr algn="ctr">
              <a:spcAft>
                <a:spcPts val="500"/>
              </a:spcAft>
            </a:pPr>
            <a:r>
              <a:rPr sz="2200" b="1">
                <a:solidFill>
                  <a:srgbClr val="22B8CF"/>
                </a:solidFill>
                <a:latin typeface="Apple SD Gothic Neo"/>
              </a:rPr>
              <a:t/>
            </a:r>
          </a:p>
          <a:p>
            <a:pPr algn="ctr">
              <a:spcAft>
                <a:spcPts val="500"/>
              </a:spcAft>
            </a:pPr>
            <a:r>
              <a:rPr sz="2200" b="1">
                <a:solidFill>
                  <a:srgbClr val="22B8CF"/>
                </a:solidFill>
                <a:latin typeface="Apple SD Gothic Neo"/>
              </a:rPr>
              <a:t>→</a:t>
            </a:r>
          </a:p>
          <a:p>
            <a:pPr algn="ctr">
              <a:spcAft>
                <a:spcPts val="500"/>
              </a:spcAft>
            </a:pPr>
            <a:r>
              <a:rPr sz="2200" b="1">
                <a:solidFill>
                  <a:srgbClr val="22B8CF"/>
                </a:solidFill>
                <a:latin typeface="Apple SD Gothic Neo"/>
              </a:rPr>
              <a:t/>
            </a:r>
          </a:p>
          <a:p>
            <a:pPr algn="ctr">
              <a:spcAft>
                <a:spcPts val="500"/>
              </a:spcAft>
            </a:pPr>
            <a:r>
              <a:rPr sz="2200" b="1">
                <a:solidFill>
                  <a:srgbClr val="22B8CF"/>
                </a:solidFill>
                <a:latin typeface="Apple SD Gothic Neo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783080"/>
            <a:ext cx="5852160" cy="3429000"/>
          </a:xfrm>
          <a:prstGeom prst="roundRect">
            <a:avLst/>
          </a:prstGeom>
          <a:solidFill>
            <a:srgbClr val="EFF7FF"/>
          </a:solidFill>
          <a:ln>
            <a:solidFill>
              <a:srgbClr val="22B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600" b="1">
                <a:solidFill>
                  <a:srgbClr val="252D3D"/>
                </a:solidFill>
                <a:latin typeface="Apple SD Gothic Neo"/>
              </a:rPr>
              <a:t>의미 지도 (1,024차원)</a:t>
            </a:r>
          </a:p>
          <a:p>
            <a:pPr algn="l"/>
            <a:r>
              <a:rPr sz="1600" b="1">
                <a:solidFill>
                  <a:srgbClr val="252D3D"/>
                </a:solidFill>
                <a:latin typeface="Apple SD Gothic Neo"/>
              </a:rPr>
              <a:t/>
            </a:r>
          </a:p>
          <a:p>
            <a:pPr algn="l"/>
            <a:r>
              <a:rPr sz="1600" b="1">
                <a:solidFill>
                  <a:srgbClr val="252D3D"/>
                </a:solidFill>
                <a:latin typeface="Apple SD Gothic Neo"/>
              </a:rPr>
              <a:t>      ● 스킬 작동 안 함</a:t>
            </a:r>
          </a:p>
          <a:p>
            <a:pPr algn="l"/>
            <a:r>
              <a:rPr sz="1600" b="1">
                <a:solidFill>
                  <a:srgbClr val="252D3D"/>
                </a:solidFill>
                <a:latin typeface="Apple SD Gothic Neo"/>
              </a:rPr>
              <a:t>      ● 기술 버그        ← 서로 붙어 있음</a:t>
            </a:r>
          </a:p>
          <a:p>
            <a:pPr algn="l"/>
            <a:r>
              <a:rPr sz="1600" b="1">
                <a:solidFill>
                  <a:srgbClr val="252D3D"/>
                </a:solidFill>
                <a:latin typeface="Apple SD Gothic Neo"/>
              </a:rPr>
              <a:t/>
            </a:r>
          </a:p>
          <a:p>
            <a:pPr algn="l"/>
            <a:r>
              <a:rPr sz="1600" b="1">
                <a:solidFill>
                  <a:srgbClr val="252D3D"/>
                </a:solidFill>
                <a:latin typeface="Apple SD Gothic Neo"/>
              </a:rPr>
              <a:t/>
            </a:r>
          </a:p>
          <a:p>
            <a:pPr algn="l"/>
            <a:r>
              <a:rPr sz="1600" b="1">
                <a:solidFill>
                  <a:srgbClr val="252D3D"/>
                </a:solidFill>
                <a:latin typeface="Apple SD Gothic Neo"/>
              </a:rPr>
              <a:t>                                    ● 점심 얘기  ← 멀리 떨어짐</a:t>
            </a:r>
          </a:p>
          <a:p>
            <a:pPr algn="l"/>
            <a:r>
              <a:rPr sz="1600" b="1">
                <a:solidFill>
                  <a:srgbClr val="252D3D"/>
                </a:solidFill>
                <a:latin typeface="Apple SD Gothic Neo"/>
              </a:rPr>
              <a:t/>
            </a:r>
          </a:p>
          <a:p>
            <a:pPr algn="l"/>
            <a:r>
              <a:rPr sz="1600" b="1">
                <a:solidFill>
                  <a:srgbClr val="252D3D"/>
                </a:solidFill>
                <a:latin typeface="Apple SD Gothic Neo"/>
              </a:rPr>
              <a:t>'가까움'은 두 점의 방향이 얼마나 같은지(코사인 유사도, 0~1)로 잽니다.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1078992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21C30"/>
                </a:solidFill>
                <a:latin typeface="Apple SD Gothic Neo"/>
              </a:rPr>
              <a:t>글마다 딱 한 번 계산해 저장합니다. 이후의 모든 '비슷하다' 판단이 이 좌표 위에서 이뤄집니다.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417320" cy="347472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4단계 · 분류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121C30"/>
                </a:solidFill>
                <a:latin typeface="Apple SD Gothic Neo"/>
              </a:rPr>
              <a:t>④ 글 읽기 — AI가 모든 글을 한 번씩 정독합니다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61872"/>
            <a:ext cx="1115568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67085"/>
                </a:solidFill>
                <a:latin typeface="Apple SD Gothic Neo"/>
              </a:rPr>
              <a:t>우리 게시판 데이터로 따로 학습시킨 모델이 글마다 3가지를 뽑고, 그 결과가 카테고리(서랍)를 결정합니다.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67085"/>
                </a:solidFill>
                <a:latin typeface="Apple SD Gothic Neo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237744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700" b="1">
                <a:solidFill>
                  <a:srgbClr val="252D3D"/>
                </a:solidFill>
                <a:latin typeface="Apple SD Gothic Neo"/>
              </a:rPr>
              <a:t>게시글 1건</a:t>
            </a:r>
          </a:p>
          <a:p>
            <a:pPr algn="ctr"/>
            <a:r>
              <a:rPr sz="1700" b="1">
                <a:solidFill>
                  <a:srgbClr val="252D3D"/>
                </a:solidFill>
                <a:latin typeface="Apple SD Gothic Neo"/>
              </a:rPr>
              <a:t/>
            </a:r>
          </a:p>
          <a:p>
            <a:pPr algn="ctr"/>
            <a:r>
              <a:rPr sz="1700" b="1">
                <a:solidFill>
                  <a:srgbClr val="252D3D"/>
                </a:solidFill>
                <a:latin typeface="Apple SD Gothic Neo"/>
              </a:rPr>
              <a:t>제목 + 본문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3063240"/>
            <a:ext cx="411480" cy="411480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1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965960"/>
            <a:ext cx="2834640" cy="2651760"/>
          </a:xfrm>
          <a:prstGeom prst="roundRect">
            <a:avLst/>
          </a:prstGeom>
          <a:solidFill>
            <a:srgbClr val="F1EDFF"/>
          </a:solidFill>
          <a:ln>
            <a:solidFill>
              <a:srgbClr val="84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600" b="1">
                <a:solidFill>
                  <a:srgbClr val="252D3D"/>
                </a:solidFill>
                <a:latin typeface="Apple SD Gothic Neo"/>
              </a:rPr>
              <a:t>글 읽기 AI</a:t>
            </a:r>
          </a:p>
          <a:p>
            <a:pPr algn="ctr"/>
            <a:r>
              <a:rPr sz="1600" b="1">
                <a:solidFill>
                  <a:srgbClr val="252D3D"/>
                </a:solidFill>
                <a:latin typeface="Apple SD Gothic Neo"/>
              </a:rPr>
              <a:t>(자체학습 ➍)</a:t>
            </a:r>
          </a:p>
          <a:p>
            <a:pPr algn="ctr"/>
            <a:r>
              <a:rPr sz="1600" b="1">
                <a:solidFill>
                  <a:srgbClr val="252D3D"/>
                </a:solidFill>
                <a:latin typeface="Apple SD Gothic Neo"/>
              </a:rPr>
              <a:t/>
            </a:r>
          </a:p>
          <a:p>
            <a:pPr algn="ctr"/>
            <a:r>
              <a:rPr sz="1600" b="1">
                <a:solidFill>
                  <a:srgbClr val="252D3D"/>
                </a:solidFill>
                <a:latin typeface="Apple SD Gothic Neo"/>
              </a:rPr>
              <a:t>글당 약 1초</a:t>
            </a:r>
          </a:p>
          <a:p>
            <a:pPr algn="ctr"/>
            <a:r>
              <a:rPr sz="1600" b="1">
                <a:solidFill>
                  <a:srgbClr val="252D3D"/>
                </a:solidFill>
                <a:latin typeface="Apple SD Gothic Neo"/>
              </a:rPr>
              <a:t>반어·밈도 학습으로 이해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3063240"/>
            <a:ext cx="411480" cy="411480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1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1874519"/>
            <a:ext cx="4617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400" b="1">
                <a:solidFill>
                  <a:srgbClr val="252D3D"/>
                </a:solidFill>
                <a:latin typeface="Apple SD Gothic Neo"/>
              </a:rPr>
              <a:t>주제문구 — "[밸런스] 루디 반격 성능 불만"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2862072"/>
            <a:ext cx="4617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400" b="1">
                <a:solidFill>
                  <a:srgbClr val="252D3D"/>
                </a:solidFill>
                <a:latin typeface="Apple SD Gothic Neo"/>
              </a:rPr>
              <a:t>종류(대분류) — 일반·콘텐츠·운영·밸런스·과금·버그 중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3849624"/>
            <a:ext cx="4617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400" b="1">
                <a:solidFill>
                  <a:srgbClr val="252D3D"/>
                </a:solidFill>
                <a:latin typeface="Apple SD Gothic Neo"/>
              </a:rPr>
              <a:t>감성 — 중립·불만·긍정 등 7가지 중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29200"/>
            <a:ext cx="10789920" cy="1097280"/>
          </a:xfrm>
          <a:prstGeom prst="roundRect">
            <a:avLst/>
          </a:prstGeom>
          <a:solidFill>
            <a:srgbClr val="EBF2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500" b="1">
                <a:solidFill>
                  <a:srgbClr val="252D3D"/>
                </a:solidFill>
                <a:latin typeface="Apple SD Gothic Neo"/>
              </a:rPr>
              <a:t>종류(대분류) → 카테고리 서랍 배정은 고정 규칙표로 즉시 끝납니다 (추가 AI 호출 없음).</a:t>
            </a:r>
          </a:p>
          <a:p>
            <a:pPr algn="ctr"/>
            <a:r>
              <a:rPr sz="1500" b="1">
                <a:solidFill>
                  <a:srgbClr val="252D3D"/>
                </a:solidFill>
                <a:latin typeface="Apple SD Gothic Neo"/>
              </a:rPr>
              <a:t>'일반' 판정만 주제문구에 육성·장비·덱 표현이 있으면 [캐릭터·장비·덱], 없으면 [일반·잡담]으로 나눕니다.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417320" cy="347472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카테고리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121C30"/>
                </a:solidFill>
                <a:latin typeface="Apple SD Gothic Neo"/>
              </a:rPr>
              <a:t>카테고리 — 게임당 7개로 고정된 '분류 서랍'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61872"/>
            <a:ext cx="1115568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67085"/>
                </a:solidFill>
                <a:latin typeface="Apple SD Gothic Neo"/>
              </a:rPr>
              <a:t>서랍은 지형(전체 분포)을 보여주고, 개별 사건 추적은 다음 장의 '주제'가 담당합니다.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67085"/>
                </a:solidFill>
                <a:latin typeface="Apple SD Gothic Neo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26517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667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700" b="1">
                <a:solidFill>
                  <a:srgbClr val="252D3D"/>
                </a:solidFill>
                <a:latin typeface="Apple SD Gothic Neo"/>
              </a:rPr>
              <a:t>일반·잡담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4991" y="1920240"/>
            <a:ext cx="26517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700" b="1">
                <a:solidFill>
                  <a:srgbClr val="252D3D"/>
                </a:solidFill>
                <a:latin typeface="Apple SD Gothic Neo"/>
              </a:rPr>
              <a:t>캐릭터·장비·덱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920240"/>
            <a:ext cx="26517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2B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700" b="1">
                <a:solidFill>
                  <a:srgbClr val="252D3D"/>
                </a:solidFill>
                <a:latin typeface="Apple SD Gothic Neo"/>
              </a:rPr>
              <a:t>콘텐츠·공략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89136" y="1920240"/>
            <a:ext cx="26517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700" b="1">
                <a:solidFill>
                  <a:srgbClr val="252D3D"/>
                </a:solidFill>
                <a:latin typeface="Apple SD Gothic Neo"/>
              </a:rPr>
              <a:t>밸런스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71800"/>
            <a:ext cx="26517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84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700" b="1">
                <a:solidFill>
                  <a:srgbClr val="252D3D"/>
                </a:solidFill>
                <a:latin typeface="Apple SD Gothic Neo"/>
              </a:rPr>
              <a:t>운영·이벤트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1" y="2971800"/>
            <a:ext cx="26517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700" b="1">
                <a:solidFill>
                  <a:srgbClr val="252D3D"/>
                </a:solidFill>
                <a:latin typeface="Apple SD Gothic Neo"/>
              </a:rPr>
              <a:t>과금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7064" y="2971800"/>
            <a:ext cx="26517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700" b="1">
                <a:solidFill>
                  <a:srgbClr val="252D3D"/>
                </a:solidFill>
                <a:latin typeface="Apple SD Gothic Neo"/>
              </a:rPr>
              <a:t>버그·오류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97680"/>
            <a:ext cx="5394960" cy="1691640"/>
          </a:xfrm>
          <a:prstGeom prst="roundRect">
            <a:avLst/>
          </a:prstGeom>
          <a:solidFill>
            <a:srgbClr val="FFEFF1"/>
          </a:solidFill>
          <a:ln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400" b="1">
                <a:solidFill>
                  <a:srgbClr val="252D3D"/>
                </a:solidFill>
                <a:latin typeface="Apple SD Gothic Neo"/>
              </a:rPr>
              <a:t>왜 7개로 고정했나요?</a:t>
            </a:r>
          </a:p>
          <a:p>
            <a:pPr algn="l"/>
            <a:r>
              <a:rPr sz="1400" b="1">
                <a:solidFill>
                  <a:srgbClr val="252D3D"/>
                </a:solidFill>
                <a:latin typeface="Apple SD Gothic Neo"/>
              </a:rPr>
              <a:t/>
            </a:r>
          </a:p>
          <a:p>
            <a:pPr algn="l"/>
            <a:r>
              <a:rPr sz="1400" b="1">
                <a:solidFill>
                  <a:srgbClr val="252D3D"/>
                </a:solidFill>
                <a:latin typeface="Apple SD Gothic Neo"/>
              </a:rPr>
              <a:t>예전에는 AI가 서랍 이름을 자유롭게 만들었더니</a:t>
            </a:r>
          </a:p>
          <a:p>
            <a:pPr algn="l"/>
            <a:r>
              <a:rPr sz="1400" b="1">
                <a:solidFill>
                  <a:srgbClr val="252D3D"/>
                </a:solidFill>
                <a:latin typeface="Apple SD Gothic Neo"/>
              </a:rPr>
              <a:t>36개까지 불어나고 '유머·잡담' 서랍이</a:t>
            </a:r>
          </a:p>
          <a:p>
            <a:pPr algn="l"/>
            <a:r>
              <a:rPr sz="1400" b="1">
                <a:solidFill>
                  <a:srgbClr val="252D3D"/>
                </a:solidFill>
                <a:latin typeface="Apple SD Gothic Neo"/>
              </a:rPr>
              <a:t>전체 글의 58%를 빨아들이는 사고가 있었습니다.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297680"/>
            <a:ext cx="5394960" cy="1691640"/>
          </a:xfrm>
          <a:prstGeom prst="roundRect">
            <a:avLst/>
          </a:prstGeom>
          <a:solidFill>
            <a:srgbClr val="EBF2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400" b="1">
                <a:solidFill>
                  <a:srgbClr val="252D3D"/>
                </a:solidFill>
                <a:latin typeface="Apple SD Gothic Neo"/>
              </a:rPr>
              <a:t>서랍이 보여주는 것</a:t>
            </a:r>
          </a:p>
          <a:p>
            <a:pPr algn="l"/>
            <a:r>
              <a:rPr sz="1400" b="1">
                <a:solidFill>
                  <a:srgbClr val="252D3D"/>
                </a:solidFill>
                <a:latin typeface="Apple SD Gothic Neo"/>
              </a:rPr>
              <a:t/>
            </a:r>
          </a:p>
          <a:p>
            <a:pPr algn="l"/>
            <a:r>
              <a:rPr sz="1400" b="1">
                <a:solidFill>
                  <a:srgbClr val="252D3D"/>
                </a:solidFill>
                <a:latin typeface="Apple SD Gothic Neo"/>
              </a:rPr>
              <a:t>서랍별 글 수·시간별 열기 그래프 → 게시판의 큰 지형</a:t>
            </a:r>
          </a:p>
          <a:p>
            <a:pPr algn="l"/>
            <a:r>
              <a:rPr sz="1400" b="1">
                <a:solidFill>
                  <a:srgbClr val="252D3D"/>
                </a:solidFill>
                <a:latin typeface="Apple SD Gothic Neo"/>
              </a:rPr>
              <a:t>"버그 서랍이 갑자기 붐빈다" 같은 흐름을 한눈에.</a:t>
            </a:r>
          </a:p>
          <a:p>
            <a:pPr algn="l"/>
            <a:r>
              <a:rPr sz="1400" b="1">
                <a:solidFill>
                  <a:srgbClr val="252D3D"/>
                </a:solidFill>
                <a:latin typeface="Apple SD Gothic Neo"/>
              </a:rPr>
              <a:t>세부 사건 이름은 주제 계층이 담당합니다.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417320" cy="347472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이미지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121C30"/>
                </a:solidFill>
                <a:latin typeface="Apple SD Gothic Neo"/>
              </a:rPr>
              <a:t>④-보조. 이미지 — 옆길에서 읽고, 관련 있을 때만 반영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61872"/>
            <a:ext cx="1115568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67085"/>
                </a:solidFill>
                <a:latin typeface="Apple SD Gothic Neo"/>
              </a:rPr>
              <a:t>글 처리를 막지 않도록 이미지는 별도 일꾼이 나중에 읽습니다 (글당 최대 3장, 약 2초).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67085"/>
                </a:solidFill>
                <a:latin typeface="Apple SD Gothic Neo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926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600" b="1">
                <a:solidFill>
                  <a:srgbClr val="252D3D"/>
                </a:solidFill>
                <a:latin typeface="Apple SD Gothic Neo"/>
              </a:rPr>
              <a:t>글 (첨부 3장)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2103120"/>
            <a:ext cx="411480" cy="365760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1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828800"/>
            <a:ext cx="3749039" cy="914400"/>
          </a:xfrm>
          <a:prstGeom prst="roundRect">
            <a:avLst/>
          </a:prstGeom>
          <a:solidFill>
            <a:srgbClr val="EBFAF6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500" b="1">
                <a:solidFill>
                  <a:srgbClr val="252D3D"/>
                </a:solidFill>
                <a:latin typeface="Apple SD Gothic Neo"/>
              </a:rPr>
              <a:t>글은 기다리지 않고 그대로 진행 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2103120"/>
            <a:ext cx="411480" cy="365760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1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828800"/>
            <a:ext cx="3108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500" b="1">
                <a:solidFill>
                  <a:srgbClr val="252D3D"/>
                </a:solidFill>
                <a:latin typeface="Apple SD Gothic Neo"/>
              </a:rPr>
              <a:t>⑤ 주제 묶기로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2880360"/>
            <a:ext cx="365760" cy="292608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000" b="1">
                <a:solidFill>
                  <a:srgbClr val="2F6FED"/>
                </a:solidFill>
                <a:latin typeface="Apple SD Gothic Neo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46120"/>
            <a:ext cx="2926080" cy="960120"/>
          </a:xfrm>
          <a:prstGeom prst="roundRect">
            <a:avLst/>
          </a:prstGeom>
          <a:solidFill>
            <a:srgbClr val="FFF8EB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이미지 일꾼 (옆길)</a:t>
            </a:r>
          </a:p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한가할 때 내려받아 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3520440"/>
            <a:ext cx="411480" cy="365760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1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3246120"/>
            <a:ext cx="374903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84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관련성 판단 (AI의 눈)</a:t>
            </a:r>
          </a:p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"이 사진이 글 내용을 보여주나?"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3520440"/>
            <a:ext cx="411480" cy="365760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1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3246120"/>
            <a:ext cx="3108960" cy="960120"/>
          </a:xfrm>
          <a:prstGeom prst="roundRect">
            <a:avLst/>
          </a:prstGeom>
          <a:solidFill>
            <a:srgbClr val="EBF2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300" b="1">
                <a:solidFill>
                  <a:srgbClr val="252D3D"/>
                </a:solidFill>
                <a:latin typeface="Apple SD Gothic Neo"/>
              </a:rPr>
              <a:t>관련 사진만 한 문장 묘사</a:t>
            </a:r>
          </a:p>
          <a:p>
            <a:pPr algn="ctr"/>
            <a:r>
              <a:rPr sz="1300" b="1">
                <a:solidFill>
                  <a:srgbClr val="252D3D"/>
                </a:solidFill>
                <a:latin typeface="Apple SD Gothic Neo"/>
              </a:rPr>
              <a:t>→ 글 좌표에 반영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63440"/>
            <a:ext cx="10881360" cy="1371600"/>
          </a:xfrm>
          <a:prstGeom prst="roundRect">
            <a:avLst/>
          </a:prstGeom>
          <a:solidFill>
            <a:srgbClr val="EEF1F8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왜 관련성을 따지나요? — 디씨 특성상 첨부의 약 40%는 글과 무관한 반응짤(캐릭터 일러·밈)입니다.</a:t>
            </a:r>
          </a:p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무관한 사진 묘사가 좌표에 섞이면 짧은 글일수록 엉뚱한 주제로 끌려갑니다. 실측 예: 전투 기록 스크린샷·순위표는 반영 ✓ / "내일 아침 추천좀"에 붙은 벚꽃 일러는 제외 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417320" cy="347472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5단계 · 주제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121C30"/>
                </a:solidFill>
                <a:latin typeface="Apple SD Gothic Neo"/>
              </a:rPr>
              <a:t>⑤ 주제 묶기 — '지금 무슨 이야기가 도는가'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61872"/>
            <a:ext cx="1115568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67085"/>
                </a:solidFill>
                <a:latin typeface="Apple SD Gothic Neo"/>
              </a:rPr>
              <a:t>주제는 카페의 원탁입니다. 매분, 최근 24시간의 모든 글을 백지에서 다시 앉힙니다.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67085"/>
                </a:solidFill>
                <a:latin typeface="Apple SD Gothic Neo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94960" cy="3474720"/>
          </a:xfrm>
          <a:prstGeom prst="roundRect">
            <a:avLst/>
          </a:prstGeom>
          <a:solidFill>
            <a:srgbClr val="EBFAF6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600" b="1">
                <a:solidFill>
                  <a:srgbClr val="252D3D"/>
                </a:solidFill>
                <a:latin typeface="Apple SD Gothic Neo"/>
              </a:rPr>
              <a:t>합석 규칙 (average-link)</a:t>
            </a:r>
          </a:p>
          <a:p>
            <a:pPr algn="l"/>
            <a:r>
              <a:rPr sz="1600" b="1">
                <a:solidFill>
                  <a:srgbClr val="252D3D"/>
                </a:solidFill>
                <a:latin typeface="Apple SD Gothic Neo"/>
              </a:rPr>
              <a:t/>
            </a:r>
          </a:p>
          <a:p>
            <a:pPr algn="l"/>
            <a:r>
              <a:rPr sz="1600" b="1">
                <a:solidFill>
                  <a:srgbClr val="252D3D"/>
                </a:solidFill>
                <a:latin typeface="Apple SD Gothic Neo"/>
              </a:rPr>
              <a:t>새 글은 원탁에 앉은 '모든 사람과 평균적으로'</a:t>
            </a:r>
          </a:p>
          <a:p>
            <a:pPr algn="l"/>
            <a:r>
              <a:rPr sz="1600" b="1">
                <a:solidFill>
                  <a:srgbClr val="252D3D"/>
                </a:solidFill>
                <a:latin typeface="Apple SD Gothic Neo"/>
              </a:rPr>
              <a:t>충분히 통해야 합석할 수 있습니다.</a:t>
            </a:r>
          </a:p>
          <a:p>
            <a:pPr algn="l"/>
            <a:r>
              <a:rPr sz="1600" b="1">
                <a:solidFill>
                  <a:srgbClr val="252D3D"/>
                </a:solidFill>
                <a:latin typeface="Apple SD Gothic Neo"/>
              </a:rPr>
              <a:t/>
            </a:r>
          </a:p>
          <a:p>
            <a:pPr algn="l"/>
            <a:r>
              <a:rPr sz="1600" b="1">
                <a:solidFill>
                  <a:srgbClr val="252D3D"/>
                </a:solidFill>
                <a:latin typeface="Apple SD Gothic Neo"/>
              </a:rPr>
              <a:t>· 6명 미만 원탁은 해산 (잡담으로 간주)</a:t>
            </a:r>
          </a:p>
          <a:p>
            <a:pPr algn="l"/>
            <a:r>
              <a:rPr sz="1600" b="1">
                <a:solidFill>
                  <a:srgbClr val="252D3D"/>
                </a:solidFill>
                <a:latin typeface="Apple SD Gothic Neo"/>
              </a:rPr>
              <a:t>· 어디에도 못 앉으면 혼자 새 원탁 시작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3949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500" b="1">
                <a:solidFill>
                  <a:srgbClr val="252D3D"/>
                </a:solidFill>
                <a:latin typeface="Apple SD Gothic Neo"/>
              </a:rPr>
              <a:t>왜 '전원과 평균'인가요?</a:t>
            </a:r>
          </a:p>
          <a:p>
            <a:pPr algn="l"/>
            <a:r>
              <a:rPr sz="1500" b="1">
                <a:solidFill>
                  <a:srgbClr val="252D3D"/>
                </a:solidFill>
                <a:latin typeface="Apple SD Gothic Neo"/>
              </a:rPr>
              <a:t/>
            </a:r>
          </a:p>
          <a:p>
            <a:pPr algn="l"/>
            <a:r>
              <a:rPr sz="1500" b="1">
                <a:solidFill>
                  <a:srgbClr val="252D3D"/>
                </a:solidFill>
                <a:latin typeface="Apple SD Gothic Neo"/>
              </a:rPr>
              <a:t>예전 규칙(원탁의 '분위기 평균'과만 비교)은</a:t>
            </a:r>
          </a:p>
          <a:p>
            <a:pPr algn="l"/>
            <a:r>
              <a:rPr sz="1500" b="1">
                <a:solidFill>
                  <a:srgbClr val="252D3D"/>
                </a:solidFill>
                <a:latin typeface="Apple SD Gothic Neo"/>
              </a:rPr>
              <a:t>잡탕 원탁일수록 분위기가 두루뭉술해져서</a:t>
            </a:r>
          </a:p>
          <a:p>
            <a:pPr algn="l"/>
            <a:r>
              <a:rPr sz="1500" b="1">
                <a:solidFill>
                  <a:srgbClr val="252D3D"/>
                </a:solidFill>
                <a:latin typeface="Apple SD Gothic Neo"/>
              </a:rPr>
              <a:t>서로 안 통하는 156명이 한 원탁에 앉는</a:t>
            </a:r>
          </a:p>
          <a:p>
            <a:pPr algn="l"/>
            <a:r>
              <a:rPr sz="1500" b="1">
                <a:solidFill>
                  <a:srgbClr val="252D3D"/>
                </a:solidFill>
                <a:latin typeface="Apple SD Gothic Neo"/>
              </a:rPr>
              <a:t>'눈덩이' 사고가 났습니다.</a:t>
            </a:r>
          </a:p>
          <a:p>
            <a:pPr algn="l"/>
            <a:r>
              <a:rPr sz="1500" b="1">
                <a:solidFill>
                  <a:srgbClr val="252D3D"/>
                </a:solidFill>
                <a:latin typeface="Apple SD Gothic Neo"/>
              </a:rPr>
              <a:t/>
            </a:r>
          </a:p>
          <a:p>
            <a:pPr algn="l"/>
            <a:r>
              <a:rPr sz="1500" b="1">
                <a:solidFill>
                  <a:srgbClr val="252D3D"/>
                </a:solidFill>
                <a:latin typeface="Apple SD Gothic Neo"/>
              </a:rPr>
              <a:t>전원-평균 규칙은 잡탕이 될수록 스스로</a:t>
            </a:r>
          </a:p>
          <a:p>
            <a:pPr algn="l"/>
            <a:r>
              <a:rPr sz="1500" b="1">
                <a:solidFill>
                  <a:srgbClr val="252D3D"/>
                </a:solidFill>
                <a:latin typeface="Apple SD Gothic Neo"/>
              </a:rPr>
              <a:t>합석 문턱이 높아져 눈덩이가 안 생깁니다.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78992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21C30"/>
                </a:solidFill>
                <a:latin typeface="Apple SD Gothic Neo"/>
              </a:rPr>
              <a:t>결과: 최근 창에서 20~30개의 조밀한 원탁 — "콜라보 카페 방문", "루디 반격 불만", "닉네임 의무화 논란" 같은 구체적 사건들.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417320" cy="347472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주제 추적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121C30"/>
                </a:solidFill>
                <a:latin typeface="Apple SD Gothic Neo"/>
              </a:rPr>
              <a:t>주제에 이름표 달기 — '어제 그 원탁'을 알아봅니다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61872"/>
            <a:ext cx="1115568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67085"/>
                </a:solidFill>
                <a:latin typeface="Apple SD Gothic Neo"/>
              </a:rPr>
              <a:t>원탁 번호는 매분 새로 매겨지므로, 저장된 주제와 대조해 같은 사건이면 번호를 이어받습니다.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67085"/>
                </a:solidFill>
                <a:latin typeface="Apple SD Gothic Neo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2004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500" b="1">
                <a:solidFill>
                  <a:srgbClr val="252D3D"/>
                </a:solidFill>
                <a:latin typeface="Apple SD Gothic Neo"/>
              </a:rPr>
              <a:t>이번 분(分)의 원탁들</a:t>
            </a:r>
          </a:p>
          <a:p>
            <a:pPr algn="ctr"/>
            <a:r>
              <a:rPr sz="1500" b="1">
                <a:solidFill>
                  <a:srgbClr val="252D3D"/>
                </a:solidFill>
                <a:latin typeface="Apple SD Gothic Neo"/>
              </a:rPr>
              <a:t/>
            </a:r>
          </a:p>
          <a:p>
            <a:pPr algn="ctr"/>
            <a:r>
              <a:rPr sz="1500" b="1">
                <a:solidFill>
                  <a:srgbClr val="252D3D"/>
                </a:solidFill>
                <a:latin typeface="Apple SD Gothic Neo"/>
              </a:rPr>
              <a:t>A. 루디 불만 12건</a:t>
            </a:r>
          </a:p>
          <a:p>
            <a:pPr algn="ctr"/>
            <a:r>
              <a:rPr sz="1500" b="1">
                <a:solidFill>
                  <a:srgbClr val="252D3D"/>
                </a:solidFill>
                <a:latin typeface="Apple SD Gothic Neo"/>
              </a:rPr>
              <a:t>B. 콜라보 카페 9건</a:t>
            </a:r>
          </a:p>
          <a:p>
            <a:pPr algn="ctr"/>
            <a:r>
              <a:rPr sz="1500" b="1">
                <a:solidFill>
                  <a:srgbClr val="252D3D"/>
                </a:solidFill>
                <a:latin typeface="Apple SD Gothic Neo"/>
              </a:rPr>
              <a:t>C. 새 이야기 7건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2926080"/>
            <a:ext cx="457200" cy="411480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1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840480" cy="2468880"/>
          </a:xfrm>
          <a:prstGeom prst="roundRect">
            <a:avLst/>
          </a:prstGeom>
          <a:solidFill>
            <a:srgbClr val="EBF2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500" b="1">
                <a:solidFill>
                  <a:srgbClr val="252D3D"/>
                </a:solidFill>
                <a:latin typeface="Apple SD Gothic Neo"/>
              </a:rPr>
              <a:t>1:1 대조 (닮은 순서대로)</a:t>
            </a:r>
          </a:p>
          <a:p>
            <a:pPr algn="ctr"/>
            <a:r>
              <a:rPr sz="1500" b="1">
                <a:solidFill>
                  <a:srgbClr val="252D3D"/>
                </a:solidFill>
                <a:latin typeface="Apple SD Gothic Neo"/>
              </a:rPr>
              <a:t/>
            </a:r>
          </a:p>
          <a:p>
            <a:pPr algn="ctr"/>
            <a:r>
              <a:rPr sz="1500" b="1">
                <a:solidFill>
                  <a:srgbClr val="252D3D"/>
                </a:solidFill>
                <a:latin typeface="Apple SD Gothic Neo"/>
              </a:rPr>
              <a:t>A ↔ 주제 #241 (닮음 0.95) ✓</a:t>
            </a:r>
          </a:p>
          <a:p>
            <a:pPr algn="ctr"/>
            <a:r>
              <a:rPr sz="1500" b="1">
                <a:solidFill>
                  <a:srgbClr val="252D3D"/>
                </a:solidFill>
                <a:latin typeface="Apple SD Gothic Neo"/>
              </a:rPr>
              <a:t>B ↔ 주제 #151 (닮음 0.97) ✓</a:t>
            </a:r>
          </a:p>
          <a:p>
            <a:pPr algn="ctr"/>
            <a:r>
              <a:rPr sz="1500" b="1">
                <a:solidFill>
                  <a:srgbClr val="252D3D"/>
                </a:solidFill>
                <a:latin typeface="Apple SD Gothic Neo"/>
              </a:rPr>
              <a:t>C ↔ 닮은 주제 없음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2926080"/>
            <a:ext cx="457200" cy="411480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1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1920240"/>
            <a:ext cx="2743200" cy="2468880"/>
          </a:xfrm>
          <a:prstGeom prst="roundRect">
            <a:avLst/>
          </a:prstGeom>
          <a:solidFill>
            <a:srgbClr val="F1EDFF"/>
          </a:solidFill>
          <a:ln>
            <a:solidFill>
              <a:srgbClr val="84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500" b="1">
                <a:solidFill>
                  <a:srgbClr val="252D3D"/>
                </a:solidFill>
                <a:latin typeface="Apple SD Gothic Neo"/>
              </a:rPr>
              <a:t>결과</a:t>
            </a:r>
          </a:p>
          <a:p>
            <a:pPr algn="ctr"/>
            <a:r>
              <a:rPr sz="1500" b="1">
                <a:solidFill>
                  <a:srgbClr val="252D3D"/>
                </a:solidFill>
                <a:latin typeface="Apple SD Gothic Neo"/>
              </a:rPr>
              <a:t/>
            </a:r>
          </a:p>
          <a:p>
            <a:pPr algn="ctr"/>
            <a:r>
              <a:rPr sz="1500" b="1">
                <a:solidFill>
                  <a:srgbClr val="252D3D"/>
                </a:solidFill>
                <a:latin typeface="Apple SD Gothic Neo"/>
              </a:rPr>
              <a:t>A·B: 기존 이름·이력 유지</a:t>
            </a:r>
          </a:p>
          <a:p>
            <a:pPr algn="ctr"/>
            <a:r>
              <a:rPr sz="1500" b="1">
                <a:solidFill>
                  <a:srgbClr val="252D3D"/>
                </a:solidFill>
                <a:latin typeface="Apple SD Gothic Neo"/>
              </a:rPr>
              <a:t>C: AI가 새 이름 지음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800600"/>
            <a:ext cx="10881360" cy="1188720"/>
          </a:xfrm>
          <a:prstGeom prst="roundRect">
            <a:avLst/>
          </a:prstGeom>
          <a:solidFill>
            <a:srgbClr val="EEF1F8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왜 1:1인가요? — 예전에는 여러 원탁이 같은 이름표를 동시에 가져갈 수 있어서, 애써 나눈 원탁들이 도로 합쳐지는 문제가 있었습니다.</a:t>
            </a:r>
          </a:p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지금은 가장 닮은 원탁 하나만 이름표를 이어받아, 서로 다른 사건이 한 주제로 섞이지 않습니다.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417320" cy="347472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품질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121C30"/>
                </a:solidFill>
                <a:latin typeface="Apple SD Gothic Neo"/>
              </a:rPr>
              <a:t>원탁의 질서 유지 — 세 가지 자동 교정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61872"/>
            <a:ext cx="1115568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67085"/>
                </a:solidFill>
                <a:latin typeface="Apple SD Gothic Neo"/>
              </a:rPr>
              <a:t>벡터 묶기의 한계(비슷한 단어, 다른 얘기)를 AI가 계속 바로잡습니다.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67085"/>
                </a:solidFill>
                <a:latin typeface="Apple SD Gothic Neo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749039" cy="1143000"/>
          </a:xfrm>
          <a:prstGeom prst="roundRect">
            <a:avLst/>
          </a:prstGeom>
          <a:solidFill>
            <a:srgbClr val="27AE60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</a:rPr>
              <a:t>멤버 검증  (잘못 앉은 사람 내보내기)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828800"/>
            <a:ext cx="6995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400" b="1">
                <a:solidFill>
                  <a:srgbClr val="252D3D"/>
                </a:solidFill>
                <a:latin typeface="Apple SD Gothic Neo"/>
              </a:rPr>
              <a:t>AI가 원탁 멤버를 읽고 "정말 이 주제 얘기인가?" O/X 판정.</a:t>
            </a:r>
          </a:p>
          <a:p>
            <a:pPr algn="l"/>
            <a:r>
              <a:rPr sz="1400" b="1">
                <a:solidFill>
                  <a:srgbClr val="252D3D"/>
                </a:solidFill>
                <a:latin typeface="Apple SD Gothic Neo"/>
              </a:rPr>
              <a:t>X 판정 글은 화면·요약·알림에서 제외. 판정은 저장되어 두 번 묻지 않음.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3749039" cy="1143000"/>
          </a:xfrm>
          <a:prstGeom prst="roundRect">
            <a:avLst/>
          </a:prstGeom>
          <a:solidFill>
            <a:srgbClr val="2F6FED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</a:rPr>
              <a:t>병합  (갈라진 원탁 붙이기)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200400"/>
            <a:ext cx="6995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400" b="1">
                <a:solidFill>
                  <a:srgbClr val="252D3D"/>
                </a:solidFill>
                <a:latin typeface="Apple SD Gothic Neo"/>
              </a:rPr>
              <a:t>두 원탁이 아주 많이 닮으면(0.92↑) 자동 병합, 애매하면(0.75~0.92)</a:t>
            </a:r>
          </a:p>
          <a:p>
            <a:pPr algn="l"/>
            <a:r>
              <a:rPr sz="1400" b="1">
                <a:solidFill>
                  <a:srgbClr val="252D3D"/>
                </a:solidFill>
                <a:latin typeface="Apple SD Gothic Neo"/>
              </a:rPr>
              <a:t>AI가 "같은 사건인가" 판정. '별개' 판정은 기억해서 재질문 없음.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572000"/>
            <a:ext cx="3749039" cy="1143000"/>
          </a:xfrm>
          <a:prstGeom prst="roundRect">
            <a:avLst/>
          </a:prstGeom>
          <a:solidFill>
            <a:srgbClr val="845EC2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</a:rPr>
              <a:t>재명명  (이름이 내용을 따라가게)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4572000"/>
            <a:ext cx="6995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84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400" b="1">
                <a:solidFill>
                  <a:srgbClr val="252D3D"/>
                </a:solidFill>
                <a:latin typeface="Apple SD Gothic Neo"/>
              </a:rPr>
              <a:t>대화가 흘러가서 이름과 내용이 멀어지면 현재 멤버 기준으로 이름을</a:t>
            </a:r>
          </a:p>
          <a:p>
            <a:pPr algn="l"/>
            <a:r>
              <a:rPr sz="1400" b="1">
                <a:solidFill>
                  <a:srgbClr val="252D3D"/>
                </a:solidFill>
                <a:latin typeface="Apple SD Gothic Neo"/>
              </a:rPr>
              <a:t>다시 지음. 예: 「라드 필수성」 → 실제로는 루디 각성 얘기가 된 경우.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78992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0">
                <a:solidFill>
                  <a:srgbClr val="667085"/>
                </a:solidFill>
                <a:latin typeface="Apple SD Gothic Neo"/>
              </a:rPr>
              <a:t>AI 판정(검증·병합)은 전부 파일로 기억해 같은 질문에 두 번 돈을 쓰지 않습니다.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417320" cy="347472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6단계 · 버스트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121C30"/>
                </a:solidFill>
                <a:latin typeface="Apple SD Gothic Neo"/>
              </a:rPr>
              <a:t>⑥ 급증 감지 — '많다'가 아니라 '갑자기 뜨겁다'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61872"/>
            <a:ext cx="1115568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67085"/>
                </a:solidFill>
                <a:latin typeface="Apple SD Gothic Neo"/>
              </a:rPr>
              <a:t>주제마다 열기 점수를 매기고, 평소 대비 급증했을 때만 다음 단계로 보냅니다.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67085"/>
                </a:solidFill>
                <a:latin typeface="Apple SD Gothic Neo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429000" cy="3383280"/>
          </a:xfrm>
          <a:prstGeom prst="roundRect">
            <a:avLst/>
          </a:prstGeom>
          <a:solidFill>
            <a:srgbClr val="FFF8EB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600" b="1">
                <a:solidFill>
                  <a:srgbClr val="252D3D"/>
                </a:solidFill>
                <a:latin typeface="Apple SD Gothic Neo"/>
              </a:rPr>
              <a:t>열기(heat) 점수</a:t>
            </a:r>
          </a:p>
          <a:p>
            <a:pPr algn="ctr"/>
            <a:r>
              <a:rPr sz="1600" b="1">
                <a:solidFill>
                  <a:srgbClr val="252D3D"/>
                </a:solidFill>
                <a:latin typeface="Apple SD Gothic Neo"/>
              </a:rPr>
              <a:t/>
            </a:r>
          </a:p>
          <a:p>
            <a:pPr algn="ctr"/>
            <a:r>
              <a:rPr sz="1600" b="1">
                <a:solidFill>
                  <a:srgbClr val="252D3D"/>
                </a:solidFill>
                <a:latin typeface="Apple SD Gothic Neo"/>
              </a:rPr>
              <a:t>방금 글 = 1점</a:t>
            </a:r>
          </a:p>
          <a:p>
            <a:pPr algn="ctr"/>
            <a:r>
              <a:rPr sz="1600" b="1">
                <a:solidFill>
                  <a:srgbClr val="252D3D"/>
                </a:solidFill>
                <a:latin typeface="Apple SD Gothic Neo"/>
              </a:rPr>
              <a:t>30분 전 글 = 0.5점</a:t>
            </a:r>
          </a:p>
          <a:p>
            <a:pPr algn="ctr"/>
            <a:r>
              <a:rPr sz="1600" b="1">
                <a:solidFill>
                  <a:srgbClr val="252D3D"/>
                </a:solidFill>
                <a:latin typeface="Apple SD Gothic Neo"/>
              </a:rPr>
              <a:t>1시간 전 글 = 0.25점</a:t>
            </a:r>
          </a:p>
          <a:p>
            <a:pPr algn="ctr"/>
            <a:r>
              <a:rPr sz="1600" b="1">
                <a:solidFill>
                  <a:srgbClr val="252D3D"/>
                </a:solidFill>
                <a:latin typeface="Apple SD Gothic Neo"/>
              </a:rPr>
              <a:t/>
            </a:r>
          </a:p>
          <a:p>
            <a:pPr algn="ctr"/>
            <a:r>
              <a:rPr sz="1600" b="1">
                <a:solidFill>
                  <a:srgbClr val="252D3D"/>
                </a:solidFill>
                <a:latin typeface="Apple SD Gothic Neo"/>
              </a:rPr>
              <a:t>식으면 점수도 스르르 감소</a:t>
            </a:r>
          </a:p>
          <a:p>
            <a:pPr algn="ctr"/>
            <a:r>
              <a:rPr sz="1600" b="1">
                <a:solidFill>
                  <a:srgbClr val="252D3D"/>
                </a:solidFill>
                <a:latin typeface="Apple SD Gothic Neo"/>
              </a:rPr>
              <a:t>(반감기 30분)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429000" cy="3383280"/>
          </a:xfrm>
          <a:prstGeom prst="roundRect">
            <a:avLst/>
          </a:prstGeom>
          <a:solidFill>
            <a:srgbClr val="FFEFF1"/>
          </a:solidFill>
          <a:ln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600" b="1">
                <a:solidFill>
                  <a:srgbClr val="252D3D"/>
                </a:solidFill>
                <a:latin typeface="Apple SD Gothic Neo"/>
              </a:rPr>
              <a:t>급증(버스트) 판정</a:t>
            </a:r>
          </a:p>
          <a:p>
            <a:pPr algn="ctr"/>
            <a:r>
              <a:rPr sz="1600" b="1">
                <a:solidFill>
                  <a:srgbClr val="252D3D"/>
                </a:solidFill>
                <a:latin typeface="Apple SD Gothic Neo"/>
              </a:rPr>
              <a:t/>
            </a:r>
          </a:p>
          <a:p>
            <a:pPr algn="ctr"/>
            <a:r>
              <a:rPr sz="1600" b="1">
                <a:solidFill>
                  <a:srgbClr val="252D3D"/>
                </a:solidFill>
                <a:latin typeface="Apple SD Gothic Neo"/>
              </a:rPr>
              <a:t>두 조건 동시 충족:</a:t>
            </a:r>
          </a:p>
          <a:p>
            <a:pPr algn="ctr"/>
            <a:r>
              <a:rPr sz="1600" b="1">
                <a:solidFill>
                  <a:srgbClr val="252D3D"/>
                </a:solidFill>
                <a:latin typeface="Apple SD Gothic Neo"/>
              </a:rPr>
              <a:t/>
            </a:r>
          </a:p>
          <a:p>
            <a:pPr algn="ctr"/>
            <a:r>
              <a:rPr sz="1600" b="1">
                <a:solidFill>
                  <a:srgbClr val="252D3D"/>
                </a:solidFill>
                <a:latin typeface="Apple SD Gothic Neo"/>
              </a:rPr>
              <a:t>① 최근 1시간 5건 이상 (절대량)</a:t>
            </a:r>
          </a:p>
          <a:p>
            <a:pPr algn="ctr"/>
            <a:r>
              <a:rPr sz="1600" b="1">
                <a:solidFill>
                  <a:srgbClr val="252D3D"/>
                </a:solidFill>
                <a:latin typeface="Apple SD Gothic Neo"/>
              </a:rPr>
              <a:t>② 그 주제의 평소 시간당</a:t>
            </a:r>
          </a:p>
          <a:p>
            <a:pPr algn="ctr"/>
            <a:r>
              <a:rPr sz="1600" b="1">
                <a:solidFill>
                  <a:srgbClr val="252D3D"/>
                </a:solidFill>
                <a:latin typeface="Apple SD Gothic Neo"/>
              </a:rPr>
              <a:t>    평균의 3배 이상 (비율)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500" b="1">
                <a:solidFill>
                  <a:srgbClr val="252D3D"/>
                </a:solidFill>
                <a:latin typeface="Apple SD Gothic Neo"/>
              </a:rPr>
              <a:t>왜 이렇게 하나요?</a:t>
            </a:r>
          </a:p>
          <a:p>
            <a:pPr algn="ctr"/>
            <a:r>
              <a:rPr sz="1500" b="1">
                <a:solidFill>
                  <a:srgbClr val="252D3D"/>
                </a:solidFill>
                <a:latin typeface="Apple SD Gothic Neo"/>
              </a:rPr>
              <a:t/>
            </a:r>
          </a:p>
          <a:p>
            <a:pPr algn="ctr"/>
            <a:r>
              <a:rPr sz="1500" b="1">
                <a:solidFill>
                  <a:srgbClr val="252D3D"/>
                </a:solidFill>
                <a:latin typeface="Apple SD Gothic Neo"/>
              </a:rPr>
              <a:t>큰 주제는 원래 글이 많으니</a:t>
            </a:r>
          </a:p>
          <a:p>
            <a:pPr algn="ctr"/>
            <a:r>
              <a:rPr sz="1500" b="1">
                <a:solidFill>
                  <a:srgbClr val="252D3D"/>
                </a:solidFill>
                <a:latin typeface="Apple SD Gothic Neo"/>
              </a:rPr>
              <a:t>'비율'로, 작은 주제의 우연은</a:t>
            </a:r>
          </a:p>
          <a:p>
            <a:pPr algn="ctr"/>
            <a:r>
              <a:rPr sz="1500" b="1">
                <a:solidFill>
                  <a:srgbClr val="252D3D"/>
                </a:solidFill>
                <a:latin typeface="Apple SD Gothic Neo"/>
              </a:rPr>
              <a:t>'절대량'으로 거릅니다.</a:t>
            </a:r>
          </a:p>
          <a:p>
            <a:pPr algn="ctr"/>
            <a:r>
              <a:rPr sz="1500" b="1">
                <a:solidFill>
                  <a:srgbClr val="252D3D"/>
                </a:solidFill>
                <a:latin typeface="Apple SD Gothic Neo"/>
              </a:rPr>
              <a:t/>
            </a:r>
          </a:p>
          <a:p>
            <a:pPr algn="ctr"/>
            <a:r>
              <a:rPr sz="1500" b="1">
                <a:solidFill>
                  <a:srgbClr val="252D3D"/>
                </a:solidFill>
                <a:latin typeface="Apple SD Gothic Neo"/>
              </a:rPr>
              <a:t>급증 아닌 주제는 비싼</a:t>
            </a:r>
          </a:p>
          <a:p>
            <a:pPr algn="ctr"/>
            <a:r>
              <a:rPr sz="1500" b="1">
                <a:solidFill>
                  <a:srgbClr val="252D3D"/>
                </a:solidFill>
                <a:latin typeface="Apple SD Gothic Neo"/>
              </a:rPr>
              <a:t>요약·판단을 아예 안 돌립니다.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417320" cy="347472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7·8단계 · 알림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121C30"/>
                </a:solidFill>
                <a:latin typeface="Apple SD Gothic Neo"/>
              </a:rPr>
              <a:t>⑦ 요약·판단 → ⑧ 알림 — 그리고 '소강'까지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61872"/>
            <a:ext cx="1115568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67085"/>
                </a:solidFill>
                <a:latin typeface="Apple SD Gothic Neo"/>
              </a:rPr>
              <a:t>급증한 주제만 이 파이프에 들어옵니다. 알림 후 이슈가 식으면 종료 신호도 자동으로 나갑니다.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67085"/>
                </a:solidFill>
                <a:latin typeface="Apple SD Gothic Neo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11680"/>
            <a:ext cx="20116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재검증</a:t>
            </a:r>
          </a:p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이물질 글 제거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32888" y="2542032"/>
            <a:ext cx="274320" cy="320040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1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39" y="2011680"/>
            <a:ext cx="20116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22B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요약</a:t>
            </a:r>
          </a:p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대표 글 최대 15건</a:t>
            </a:r>
          </a:p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→ 3~5문장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64608" y="2542032"/>
            <a:ext cx="274320" cy="320040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1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59" y="2011680"/>
            <a:ext cx="20116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84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라벨</a:t>
            </a:r>
          </a:p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글 읽기 AI 결과</a:t>
            </a:r>
          </a:p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다수결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96327" y="2542032"/>
            <a:ext cx="274320" cy="320040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1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011680"/>
            <a:ext cx="20116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판단관 O/X</a:t>
            </a:r>
          </a:p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알릴 사건인가</a:t>
            </a:r>
          </a:p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한 글자 판정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28048" y="2542032"/>
            <a:ext cx="274320" cy="320040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1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29800" y="2011680"/>
            <a:ext cx="20116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알림 발송</a:t>
            </a:r>
          </a:p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쿨다운 60분</a:t>
            </a:r>
          </a:p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(도배 방지)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77639"/>
            <a:ext cx="5394960" cy="1828800"/>
          </a:xfrm>
          <a:prstGeom prst="roundRect">
            <a:avLst/>
          </a:prstGeom>
          <a:solidFill>
            <a:srgbClr val="F1EDFF"/>
          </a:solidFill>
          <a:ln>
            <a:solidFill>
              <a:srgbClr val="84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400" b="1">
                <a:solidFill>
                  <a:srgbClr val="252D3D"/>
                </a:solidFill>
                <a:latin typeface="Apple SD Gothic Neo"/>
              </a:rPr>
              <a:t>판단관에게 들어가는 한 줄</a:t>
            </a:r>
          </a:p>
          <a:p>
            <a:pPr algn="l"/>
            <a:r>
              <a:rPr sz="1400" b="1">
                <a:solidFill>
                  <a:srgbClr val="252D3D"/>
                </a:solidFill>
                <a:latin typeface="Apple SD Gothic Neo"/>
              </a:rPr>
              <a:t/>
            </a:r>
          </a:p>
          <a:p>
            <a:pPr algn="l"/>
            <a:r>
              <a:rPr sz="1400" b="1">
                <a:solidFill>
                  <a:srgbClr val="252D3D"/>
                </a:solidFill>
                <a:latin typeface="Apple SD Gothic Neo"/>
              </a:rPr>
              <a:t>"주제라벨___대표제목___요약"</a:t>
            </a:r>
          </a:p>
          <a:p>
            <a:pPr algn="l"/>
            <a:r>
              <a:rPr sz="1400" b="1">
                <a:solidFill>
                  <a:srgbClr val="252D3D"/>
                </a:solidFill>
                <a:latin typeface="Apple SD Gothic Neo"/>
              </a:rPr>
              <a:t/>
            </a:r>
          </a:p>
          <a:p>
            <a:pPr algn="l"/>
            <a:r>
              <a:rPr sz="1400" b="1">
                <a:solidFill>
                  <a:srgbClr val="252D3D"/>
                </a:solidFill>
                <a:latin typeface="Apple SD Gothic Neo"/>
              </a:rPr>
              <a:t>학습 때 본 것과 똑같은 형식이라 판단이 안정적.</a:t>
            </a:r>
          </a:p>
          <a:p>
            <a:pPr algn="l"/>
            <a:r>
              <a:rPr sz="1400" b="1">
                <a:solidFill>
                  <a:srgbClr val="252D3D"/>
                </a:solidFill>
                <a:latin typeface="Apple SD Gothic Neo"/>
              </a:rPr>
              <a:t>O/X 모두 이력에 남고, 담당자의 👍👎 피드백은</a:t>
            </a:r>
          </a:p>
          <a:p>
            <a:pPr algn="l"/>
            <a:r>
              <a:rPr sz="1400" b="1">
                <a:solidFill>
                  <a:srgbClr val="252D3D"/>
                </a:solidFill>
                <a:latin typeface="Apple SD Gothic Neo"/>
              </a:rPr>
              <a:t>다음 학습 데이터로 쌓입니다.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977639"/>
            <a:ext cx="5394960" cy="1828800"/>
          </a:xfrm>
          <a:prstGeom prst="roundRect">
            <a:avLst/>
          </a:prstGeom>
          <a:solidFill>
            <a:srgbClr val="EBFAF6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400" b="1">
                <a:solidFill>
                  <a:srgbClr val="252D3D"/>
                </a:solidFill>
                <a:latin typeface="Apple SD Gothic Neo"/>
              </a:rPr>
              <a:t>소강(이슈 종료) 알림</a:t>
            </a:r>
          </a:p>
          <a:p>
            <a:pPr algn="l"/>
            <a:r>
              <a:rPr sz="1400" b="1">
                <a:solidFill>
                  <a:srgbClr val="252D3D"/>
                </a:solidFill>
                <a:latin typeface="Apple SD Gothic Neo"/>
              </a:rPr>
              <a:t/>
            </a:r>
          </a:p>
          <a:p>
            <a:pPr algn="l"/>
            <a:r>
              <a:rPr sz="1400" b="1">
                <a:solidFill>
                  <a:srgbClr val="252D3D"/>
                </a:solidFill>
                <a:latin typeface="Apple SD Gothic Neo"/>
              </a:rPr>
              <a:t>알림 나간 주제를 계속 감시하다가</a:t>
            </a:r>
          </a:p>
          <a:p>
            <a:pPr algn="l"/>
            <a:r>
              <a:rPr sz="1400" b="1">
                <a:solidFill>
                  <a:srgbClr val="252D3D"/>
                </a:solidFill>
                <a:latin typeface="Apple SD Gothic Neo"/>
              </a:rPr>
              <a:t>열기가 정점의 25% 아래 + 최근 1시간 5건 미만이</a:t>
            </a:r>
          </a:p>
          <a:p>
            <a:pPr algn="l"/>
            <a:r>
              <a:rPr sz="1400" b="1">
                <a:solidFill>
                  <a:srgbClr val="252D3D"/>
                </a:solidFill>
                <a:latin typeface="Apple SD Gothic Neo"/>
              </a:rPr>
              <a:t>10분 연속이면 "🌤 소강" 한 번 발송.</a:t>
            </a:r>
          </a:p>
          <a:p>
            <a:pPr algn="l"/>
            <a:r>
              <a:rPr sz="1400" b="1">
                <a:solidFill>
                  <a:srgbClr val="252D3D"/>
                </a:solidFill>
                <a:latin typeface="Apple SD Gothic Neo"/>
              </a:rPr>
              <a:t>담당자가 상황 종료를 알 수 있습니다.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417320" cy="347472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시나리오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121C30"/>
                </a:solidFill>
                <a:latin typeface="Apple SD Gothic Neo"/>
              </a:rPr>
              <a:t>실제로 이렇게 흘러갑니다 — '루디 패치의 날' (실사례)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61872"/>
            <a:ext cx="1115568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67085"/>
                </a:solidFill>
                <a:latin typeface="Apple SD Gothic Neo"/>
              </a:rPr>
              <a:t>2026-07-11 실제 알림 이력을 재구성한 타임라인입니다.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67085"/>
                </a:solidFill>
                <a:latin typeface="Apple SD Gothic Neo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2606040" cy="548640"/>
          </a:xfrm>
          <a:prstGeom prst="roundRect">
            <a:avLst/>
          </a:prstGeom>
          <a:solidFill>
            <a:srgbClr val="667085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06~09시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06040"/>
            <a:ext cx="26060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667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300" b="1">
                <a:solidFill>
                  <a:srgbClr val="252D3D"/>
                </a:solidFill>
                <a:latin typeface="Apple SD Gothic Neo"/>
              </a:rPr>
              <a:t>패치 직후 불만 글이</a:t>
            </a:r>
          </a:p>
          <a:p>
            <a:pPr algn="ctr"/>
            <a:r>
              <a:rPr sz="1300" b="1">
                <a:solidFill>
                  <a:srgbClr val="252D3D"/>
                </a:solidFill>
                <a:latin typeface="Apple SD Gothic Neo"/>
              </a:rPr>
              <a:t>띄엄띄엄 유입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069080"/>
            <a:ext cx="2606040" cy="1325880"/>
          </a:xfrm>
          <a:prstGeom prst="roundRect">
            <a:avLst/>
          </a:prstGeom>
          <a:solidFill>
            <a:srgbClr val="EEF1F8"/>
          </a:solidFill>
          <a:ln>
            <a:solidFill>
              <a:srgbClr val="667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300" b="1">
                <a:solidFill>
                  <a:srgbClr val="252D3D"/>
                </a:solidFill>
                <a:latin typeface="Apple SD Gothic Neo"/>
              </a:rPr>
              <a:t>원탁이 조용히 생김</a:t>
            </a:r>
          </a:p>
          <a:p>
            <a:pPr algn="ctr"/>
            <a:r>
              <a:rPr sz="1300" b="1">
                <a:solidFill>
                  <a:srgbClr val="252D3D"/>
                </a:solidFill>
                <a:latin typeface="Apple SD Gothic Neo"/>
              </a:rPr>
              <a:t>(주제: 루디 각성 불만)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18104" y="3108960"/>
            <a:ext cx="256032" cy="320040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1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920240"/>
            <a:ext cx="2606040" cy="548640"/>
          </a:xfrm>
          <a:prstGeom prst="roundRect">
            <a:avLst/>
          </a:prstGeom>
          <a:solidFill>
            <a:srgbClr val="F2994A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13시 40분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606040"/>
            <a:ext cx="26060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300" b="1">
                <a:solidFill>
                  <a:srgbClr val="252D3D"/>
                </a:solidFill>
                <a:latin typeface="Apple SD Gothic Neo"/>
              </a:rPr>
              <a:t>1시간에 글 10여 건 몰림</a:t>
            </a:r>
          </a:p>
          <a:p>
            <a:pPr algn="ctr"/>
            <a:r>
              <a:rPr sz="1300" b="1">
                <a:solidFill>
                  <a:srgbClr val="252D3D"/>
                </a:solidFill>
                <a:latin typeface="Apple SD Gothic Neo"/>
              </a:rPr>
              <a:t>평소의 3배 초과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4069080"/>
            <a:ext cx="2606040" cy="1325880"/>
          </a:xfrm>
          <a:prstGeom prst="roundRect">
            <a:avLst/>
          </a:prstGeom>
          <a:solidFill>
            <a:srgbClr val="EEF1F8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300" b="1">
                <a:solidFill>
                  <a:srgbClr val="252D3D"/>
                </a:solidFill>
                <a:latin typeface="Apple SD Gothic Neo"/>
              </a:rPr>
              <a:t>🔥 버스트 감지</a:t>
            </a:r>
          </a:p>
          <a:p>
            <a:pPr algn="ctr"/>
            <a:r>
              <a:rPr sz="1300" b="1">
                <a:solidFill>
                  <a:srgbClr val="252D3D"/>
                </a:solidFill>
                <a:latin typeface="Apple SD Gothic Neo"/>
              </a:rPr>
              <a:t>→ 재검증·요약 시작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98464" y="3108960"/>
            <a:ext cx="256032" cy="320040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1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920240"/>
            <a:ext cx="2606040" cy="548640"/>
          </a:xfrm>
          <a:prstGeom prst="roundRect">
            <a:avLst/>
          </a:prstGeom>
          <a:solidFill>
            <a:srgbClr val="E04F5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13시 59분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606040"/>
            <a:ext cx="26060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300" b="1">
                <a:solidFill>
                  <a:srgbClr val="252D3D"/>
                </a:solidFill>
                <a:latin typeface="Apple SD Gothic Neo"/>
              </a:rPr>
              <a:t>판단관: "반격 렉·밸런스</a:t>
            </a:r>
          </a:p>
          <a:p>
            <a:pPr algn="ctr"/>
            <a:r>
              <a:rPr sz="1300" b="1">
                <a:solidFill>
                  <a:srgbClr val="252D3D"/>
                </a:solidFill>
                <a:latin typeface="Apple SD Gothic Neo"/>
              </a:rPr>
              <a:t>실불만 다수" → 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069080"/>
            <a:ext cx="2606040" cy="1325880"/>
          </a:xfrm>
          <a:prstGeom prst="roundRect">
            <a:avLst/>
          </a:prstGeom>
          <a:solidFill>
            <a:srgbClr val="EEF1F8"/>
          </a:solidFill>
          <a:ln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300" b="1">
                <a:solidFill>
                  <a:srgbClr val="252D3D"/>
                </a:solidFill>
                <a:latin typeface="Apple SD Gothic Neo"/>
              </a:rPr>
              <a:t>🚨 알림 발송</a:t>
            </a:r>
          </a:p>
          <a:p>
            <a:pPr algn="ctr"/>
            <a:r>
              <a:rPr sz="1300" b="1">
                <a:solidFill>
                  <a:srgbClr val="252D3D"/>
                </a:solidFill>
                <a:latin typeface="Apple SD Gothic Neo"/>
              </a:rPr>
              <a:t>요약과 함께 이력 기록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78824" y="3108960"/>
            <a:ext cx="256032" cy="320040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1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920240"/>
            <a:ext cx="2606040" cy="548640"/>
          </a:xfrm>
          <a:prstGeom prst="roundRect">
            <a:avLst/>
          </a:prstGeom>
          <a:solidFill>
            <a:srgbClr val="27AE60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14시 55분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2606040"/>
            <a:ext cx="26060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300" b="1">
                <a:solidFill>
                  <a:srgbClr val="252D3D"/>
                </a:solidFill>
                <a:latin typeface="Apple SD Gothic Neo"/>
              </a:rPr>
              <a:t>유입 급감, 열기가</a:t>
            </a:r>
          </a:p>
          <a:p>
            <a:pPr algn="ctr"/>
            <a:r>
              <a:rPr sz="1300" b="1">
                <a:solidFill>
                  <a:srgbClr val="252D3D"/>
                </a:solidFill>
                <a:latin typeface="Apple SD Gothic Neo"/>
              </a:rPr>
              <a:t>정점의 17%까지 하락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4069080"/>
            <a:ext cx="2606040" cy="1325880"/>
          </a:xfrm>
          <a:prstGeom prst="roundRect">
            <a:avLst/>
          </a:prstGeom>
          <a:solidFill>
            <a:srgbClr val="EEF1F8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300" b="1">
                <a:solidFill>
                  <a:srgbClr val="252D3D"/>
                </a:solidFill>
                <a:latin typeface="Apple SD Gothic Neo"/>
              </a:rPr>
              <a:t>🌤 소강 알림</a:t>
            </a:r>
          </a:p>
          <a:p>
            <a:pPr algn="ctr"/>
            <a:r>
              <a:rPr sz="1300" b="1">
                <a:solidFill>
                  <a:srgbClr val="252D3D"/>
                </a:solidFill>
                <a:latin typeface="Apple SD Gothic Neo"/>
              </a:rPr>
              <a:t>관제 사이클 종료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69280"/>
            <a:ext cx="1078992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121C30"/>
                </a:solidFill>
                <a:latin typeface="Apple SD Gothic Neo"/>
              </a:rPr>
              <a:t>운영자는 알림 두 줄(발생·소강)만 보고도 사건의 시작과 끝을 알 수 있습니다. 상세 화면에서는 당시 글들을 그대로 볼 수 있습니다.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417320" cy="347472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화면 안내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121C30"/>
                </a:solidFill>
                <a:latin typeface="Apple SD Gothic Neo"/>
              </a:rPr>
              <a:t>화면은 이렇게 읽습니다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61872"/>
            <a:ext cx="1115568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67085"/>
                </a:solidFill>
                <a:latin typeface="Apple SD Gothic Neo"/>
              </a:rPr>
              <a:t>브라우저 화면은 10~15초마다 자동 갱신됩니다. 좌측에서 게임을 전환할 수 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67085"/>
                </a:solidFill>
                <a:latin typeface="Apple SD Gothic Neo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5394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500" b="1">
                <a:solidFill>
                  <a:srgbClr val="252D3D"/>
                </a:solidFill>
                <a:latin typeface="Apple SD Gothic Neo"/>
              </a:rPr>
              <a:t>실시간 관제 (홈)</a:t>
            </a:r>
          </a:p>
          <a:p>
            <a:pPr algn="l"/>
            <a:r>
              <a:rPr sz="1500" b="1">
                <a:solidFill>
                  <a:srgbClr val="252D3D"/>
                </a:solidFill>
                <a:latin typeface="Apple SD Gothic Neo"/>
              </a:rPr>
              <a:t>카테고리 열기 보드 · AI 슬롯 상태 · 최근 수집 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394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500" b="1">
                <a:solidFill>
                  <a:srgbClr val="252D3D"/>
                </a:solidFill>
                <a:latin typeface="Apple SD Gothic Neo"/>
              </a:rPr>
              <a:t>주제</a:t>
            </a:r>
          </a:p>
          <a:p>
            <a:pPr algn="l"/>
            <a:r>
              <a:rPr sz="1500" b="1">
                <a:solidFill>
                  <a:srgbClr val="252D3D"/>
                </a:solidFill>
                <a:latin typeface="Apple SD Gothic Neo"/>
              </a:rPr>
              <a:t>지금 도는 사건 목록 — 알림 → 확산 → 열기 순 정렬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200400"/>
            <a:ext cx="5394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2B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500" b="1">
                <a:solidFill>
                  <a:srgbClr val="252D3D"/>
                </a:solidFill>
                <a:latin typeface="Apple SD Gothic Neo"/>
              </a:rPr>
              <a:t>주제 상세</a:t>
            </a:r>
          </a:p>
          <a:p>
            <a:pPr algn="l"/>
            <a:r>
              <a:rPr sz="1500" b="1">
                <a:solidFill>
                  <a:srgbClr val="252D3D"/>
                </a:solidFill>
                <a:latin typeface="Apple SD Gothic Neo"/>
              </a:rPr>
              <a:t>기본은 '현재 창'의 글만 표시 · '전체 이력'은 토글로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200400"/>
            <a:ext cx="5394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500" b="1">
                <a:solidFill>
                  <a:srgbClr val="252D3D"/>
                </a:solidFill>
                <a:latin typeface="Apple SD Gothic Neo"/>
              </a:rPr>
              <a:t>알림</a:t>
            </a:r>
          </a:p>
          <a:p>
            <a:pPr algn="l"/>
            <a:r>
              <a:rPr sz="1500" b="1">
                <a:solidFill>
                  <a:srgbClr val="252D3D"/>
                </a:solidFill>
                <a:latin typeface="Apple SD Gothic Neo"/>
              </a:rPr>
              <a:t>발송 판정과 이력 · 담당자 👍👎 피드백(학습 데이터)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572000"/>
            <a:ext cx="5394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84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500" b="1">
                <a:solidFill>
                  <a:srgbClr val="252D3D"/>
                </a:solidFill>
                <a:latin typeface="Apple SD Gothic Neo"/>
              </a:rPr>
              <a:t>타임머신</a:t>
            </a:r>
          </a:p>
          <a:p>
            <a:pPr algn="l"/>
            <a:r>
              <a:rPr sz="1500" b="1">
                <a:solidFill>
                  <a:srgbClr val="252D3D"/>
                </a:solidFill>
                <a:latin typeface="Apple SD Gothic Neo"/>
              </a:rPr>
              <a:t>과거 어느 시점이든 당시 대시보드 그대로 재생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572000"/>
            <a:ext cx="5394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500" b="1">
                <a:solidFill>
                  <a:srgbClr val="252D3D"/>
                </a:solidFill>
                <a:latin typeface="Apple SD Gothic Neo"/>
              </a:rPr>
              <a:t>점검 도구</a:t>
            </a:r>
          </a:p>
          <a:p>
            <a:pPr algn="l"/>
            <a:r>
              <a:rPr sz="1500" b="1">
                <a:solidFill>
                  <a:srgbClr val="252D3D"/>
                </a:solidFill>
                <a:latin typeface="Apple SD Gothic Neo"/>
              </a:rPr>
              <a:t>재분류 · 안전망 점검 · 판단 모델 단독 테스트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78992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0">
                <a:solidFill>
                  <a:srgbClr val="667085"/>
                </a:solidFill>
                <a:latin typeface="Apple SD Gothic Neo"/>
              </a:rPr>
              <a:t>타임머신: 매분의 화면 상태를 30일간 저장 — "어제 밤 무슨 일이 있었나"를 그대로 되감아 봅니다.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417320" cy="347472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설정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121C30"/>
                </a:solidFill>
                <a:latin typeface="Apple SD Gothic Neo"/>
              </a:rPr>
              <a:t>운영자가 만질 수 있는 다이얼 (현재 값)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61872"/>
            <a:ext cx="1115568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67085"/>
                </a:solidFill>
                <a:latin typeface="Apple SD Gothic Neo"/>
              </a:rPr>
              <a:t>숫자는 이 게시판 실데이터로 보정한 값입니다 — 임베딩 모델이나 게임이 바뀌면 재보정이 필요합니다.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67085"/>
                </a:solidFill>
                <a:latin typeface="Apple SD Gothic Neo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291840" cy="502920"/>
          </a:xfrm>
          <a:prstGeom prst="roundRect">
            <a:avLst/>
          </a:prstGeom>
          <a:solidFill>
            <a:srgbClr val="EBF2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300" b="1">
                <a:solidFill>
                  <a:srgbClr val="252D3D"/>
                </a:solidFill>
                <a:latin typeface="Apple SD Gothic Neo"/>
              </a:rPr>
              <a:t>주제 합석 문턱 0.60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1737360"/>
            <a:ext cx="31089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300" b="1">
                <a:solidFill>
                  <a:srgbClr val="252D3D"/>
                </a:solidFill>
                <a:latin typeface="Apple SD Gothic Neo"/>
              </a:rPr>
              <a:t>원탁 전원과의 평균 닮음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737360"/>
            <a:ext cx="44348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200" b="0">
                <a:solidFill>
                  <a:srgbClr val="252D3D"/>
                </a:solidFill>
                <a:latin typeface="Apple SD Gothic Neo"/>
              </a:rPr>
              <a:t>낮추면 잡탕 원탁 / 높이면 원탁이 안 생김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68296"/>
            <a:ext cx="3291840" cy="502920"/>
          </a:xfrm>
          <a:prstGeom prst="roundRect">
            <a:avLst/>
          </a:prstGeom>
          <a:solidFill>
            <a:srgbClr val="EBF2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300" b="1">
                <a:solidFill>
                  <a:srgbClr val="252D3D"/>
                </a:solidFill>
                <a:latin typeface="Apple SD Gothic Neo"/>
              </a:rPr>
              <a:t>주제 인정 최소 6건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2368296"/>
            <a:ext cx="31089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300" b="1">
                <a:solidFill>
                  <a:srgbClr val="252D3D"/>
                </a:solidFill>
                <a:latin typeface="Apple SD Gothic Neo"/>
              </a:rPr>
              <a:t>원탁 성립 인원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2368296"/>
            <a:ext cx="44348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200" b="0">
                <a:solidFill>
                  <a:srgbClr val="252D3D"/>
                </a:solidFill>
                <a:latin typeface="Apple SD Gothic Neo"/>
              </a:rPr>
              <a:t>낮추면 자잘한 주제 급증 / 높이면 작은 사건 놓침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99232"/>
            <a:ext cx="3291840" cy="502920"/>
          </a:xfrm>
          <a:prstGeom prst="roundRect">
            <a:avLst/>
          </a:prstGeom>
          <a:solidFill>
            <a:srgbClr val="EBF2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300" b="1">
                <a:solidFill>
                  <a:srgbClr val="252D3D"/>
                </a:solidFill>
                <a:latin typeface="Apple SD Gothic Neo"/>
              </a:rPr>
              <a:t>주제 이름표 승계 0.85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2999232"/>
            <a:ext cx="31089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300" b="1">
                <a:solidFill>
                  <a:srgbClr val="252D3D"/>
                </a:solidFill>
                <a:latin typeface="Apple SD Gothic Neo"/>
              </a:rPr>
              <a:t>'어제 그 원탁' 판정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2999232"/>
            <a:ext cx="44348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200" b="0">
                <a:solidFill>
                  <a:srgbClr val="252D3D"/>
                </a:solidFill>
                <a:latin typeface="Apple SD Gothic Neo"/>
              </a:rPr>
              <a:t>낮추면 다른 사건 흡수 / 높이면 새 주제 남발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30168"/>
            <a:ext cx="3291840" cy="502920"/>
          </a:xfrm>
          <a:prstGeom prst="roundRect">
            <a:avLst/>
          </a:prstGeom>
          <a:solidFill>
            <a:srgbClr val="EBF2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300" b="1">
                <a:solidFill>
                  <a:srgbClr val="252D3D"/>
                </a:solidFill>
                <a:latin typeface="Apple SD Gothic Neo"/>
              </a:rPr>
              <a:t>자동 병합 0.92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1920" y="3630168"/>
            <a:ext cx="31089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300" b="1">
                <a:solidFill>
                  <a:srgbClr val="252D3D"/>
                </a:solidFill>
                <a:latin typeface="Apple SD Gothic Neo"/>
              </a:rPr>
              <a:t>확실한 쌍둥이 원탁 합치기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3630168"/>
            <a:ext cx="44348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200" b="0">
                <a:solidFill>
                  <a:srgbClr val="252D3D"/>
                </a:solidFill>
                <a:latin typeface="Apple SD Gothic Neo"/>
              </a:rPr>
              <a:t>낮추면 잘못 합쳐질 위험 (되돌리기 어려움)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61104"/>
            <a:ext cx="3291840" cy="502920"/>
          </a:xfrm>
          <a:prstGeom prst="roundRect">
            <a:avLst/>
          </a:prstGeom>
          <a:solidFill>
            <a:srgbClr val="EBF2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300" b="1">
                <a:solidFill>
                  <a:srgbClr val="252D3D"/>
                </a:solidFill>
                <a:latin typeface="Apple SD Gothic Neo"/>
              </a:rPr>
              <a:t>열기 반감기 30분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31920" y="4261104"/>
            <a:ext cx="31089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300" b="1">
                <a:solidFill>
                  <a:srgbClr val="252D3D"/>
                </a:solidFill>
                <a:latin typeface="Apple SD Gothic Neo"/>
              </a:rPr>
              <a:t>글 한 건의 영향 지속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4261104"/>
            <a:ext cx="44348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200" b="0">
                <a:solidFill>
                  <a:srgbClr val="252D3D"/>
                </a:solidFill>
                <a:latin typeface="Apple SD Gothic Neo"/>
              </a:rPr>
              <a:t>짧으면 민감 / 길면 오래 뜨겁게 보임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892040"/>
            <a:ext cx="3291840" cy="502920"/>
          </a:xfrm>
          <a:prstGeom prst="roundRect">
            <a:avLst/>
          </a:prstGeom>
          <a:solidFill>
            <a:srgbClr val="EBF2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300" b="1">
                <a:solidFill>
                  <a:srgbClr val="252D3D"/>
                </a:solidFill>
                <a:latin typeface="Apple SD Gothic Neo"/>
              </a:rPr>
              <a:t>급증 = 5건 &amp; 3배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31920" y="4892040"/>
            <a:ext cx="31089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300" b="1">
                <a:solidFill>
                  <a:srgbClr val="252D3D"/>
                </a:solidFill>
                <a:latin typeface="Apple SD Gothic Neo"/>
              </a:rPr>
              <a:t>알림 후보 문턱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0" y="4892040"/>
            <a:ext cx="44348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200" b="0">
                <a:solidFill>
                  <a:srgbClr val="252D3D"/>
                </a:solidFill>
                <a:latin typeface="Apple SD Gothic Neo"/>
              </a:rPr>
              <a:t>낮추면 오탐 증가 / 높이면 사건을 늦게 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522975"/>
            <a:ext cx="3291840" cy="502920"/>
          </a:xfrm>
          <a:prstGeom prst="roundRect">
            <a:avLst/>
          </a:prstGeom>
          <a:solidFill>
            <a:srgbClr val="EBF2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300" b="1">
                <a:solidFill>
                  <a:srgbClr val="252D3D"/>
                </a:solidFill>
                <a:latin typeface="Apple SD Gothic Neo"/>
              </a:rPr>
              <a:t>재알림 쿨다운 60분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31920" y="5522975"/>
            <a:ext cx="31089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300" b="1">
                <a:solidFill>
                  <a:srgbClr val="252D3D"/>
                </a:solidFill>
                <a:latin typeface="Apple SD Gothic Neo"/>
              </a:rPr>
              <a:t>같은 주제 반복 알림 방지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0" y="5522975"/>
            <a:ext cx="44348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200" b="0">
                <a:solidFill>
                  <a:srgbClr val="252D3D"/>
                </a:solidFill>
                <a:latin typeface="Apple SD Gothic Neo"/>
              </a:rPr>
              <a:t>짧으면 시끄러움 / 길면 재점화를 놓침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417320" cy="347472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주의사항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121C30"/>
                </a:solidFill>
                <a:latin typeface="Apple SD Gothic Neo"/>
              </a:rPr>
              <a:t>결과를 해석할 때 알아둘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61872"/>
            <a:ext cx="1115568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67085"/>
                </a:solidFill>
                <a:latin typeface="Apple SD Gothic Neo"/>
              </a:rPr>
              <a:t>이 시스템은 '자동 정답기'가 아니라, 운영자가 빨리 볼 후보를 만들어 주는 관제 도구입니다.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67085"/>
                </a:solidFill>
                <a:latin typeface="Apple SD Gothic Neo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5661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AI는 틀릴 수 있습니다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783080"/>
            <a:ext cx="71780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300" b="0">
                <a:solidFill>
                  <a:srgbClr val="252D3D"/>
                </a:solidFill>
                <a:latin typeface="Apple SD Gothic Neo"/>
              </a:rPr>
              <a:t>분류·이름·O/X 판단 모두 오판 가능. 알림 화면의 👍👎 피드백이 다음 학습의 재료가 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35661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6건 미만은 주제가 안 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651760"/>
            <a:ext cx="71780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300" b="0">
                <a:solidFill>
                  <a:srgbClr val="252D3D"/>
                </a:solidFill>
                <a:latin typeface="Apple SD Gothic Neo"/>
              </a:rPr>
              <a:t>의미 있는 사건이라도 글이 적으면 원탁이 서지 않습니다. 카테고리 열기 그래프가 보조 신호입니다.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20439"/>
            <a:ext cx="35661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주제와 카테고리는 1:1이 아닙니다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3520439"/>
            <a:ext cx="71780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300" b="0">
                <a:solidFill>
                  <a:srgbClr val="252D3D"/>
                </a:solidFill>
                <a:latin typeface="Apple SD Gothic Neo"/>
              </a:rPr>
              <a:t>한 사건(주제)에 밸런스·콘텐츠 글이 섞일 수 있습니다 — 정상입니다.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89120"/>
            <a:ext cx="35661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84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숫자는 이 게시판 전용입니다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4389120"/>
            <a:ext cx="71780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300" b="0">
                <a:solidFill>
                  <a:srgbClr val="252D3D"/>
                </a:solidFill>
                <a:latin typeface="Apple SD Gothic Neo"/>
              </a:rPr>
              <a:t>합석 문턱·병합 기준 등은 실데이터로 보정한 값 — 다른 게임·모델에 그대로 옮기면 안 맞습니다.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57800"/>
            <a:ext cx="35661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400" b="1">
                <a:solidFill>
                  <a:srgbClr val="252D3D"/>
                </a:solidFill>
                <a:latin typeface="Apple SD Gothic Neo"/>
              </a:rPr>
              <a:t>이미지 판정도 완벽하지 않습니다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5257800"/>
            <a:ext cx="71780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/>
            <a:r>
              <a:rPr sz="1300" b="0">
                <a:solidFill>
                  <a:srgbClr val="252D3D"/>
                </a:solidFill>
                <a:latin typeface="Apple SD Gothic Neo"/>
              </a:rPr>
              <a:t>관련/무관 경계 사례(캐릭터 일러 등)는 가끔 틀립니다. 임베딩에만 쓰여 영향 범위는 제한적입니다.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417320" cy="347472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121C30"/>
                </a:solidFill>
                <a:latin typeface="Apple SD Gothic Neo"/>
              </a:rPr>
              <a:t>기억할 세 문장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67085"/>
                </a:solidFill>
                <a:latin typeface="Apple SD Gothic Neo"/>
              </a:rP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61320" cy="1143000"/>
          </a:xfrm>
          <a:prstGeom prst="roundRect">
            <a:avLst/>
          </a:prstGeom>
          <a:solidFill>
            <a:srgbClr val="EBF2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000" b="1">
                <a:solidFill>
                  <a:srgbClr val="252D3D"/>
                </a:solidFill>
                <a:latin typeface="Apple SD Gothic Neo"/>
              </a:rPr>
              <a:t>1. 모든 글은 AI가 한 번씩 읽어 7개 서랍(카테고리)에 넣습니다 — 게시판의 지형.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00400"/>
            <a:ext cx="10561320" cy="1143000"/>
          </a:xfrm>
          <a:prstGeom prst="roundRect">
            <a:avLst/>
          </a:prstGeom>
          <a:solidFill>
            <a:srgbClr val="EBFAF6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900" b="1">
                <a:solidFill>
                  <a:srgbClr val="252D3D"/>
                </a:solidFill>
                <a:latin typeface="Apple SD Gothic Neo"/>
              </a:rPr>
              <a:t>2. 같은 사건의 글은 원탁(주제)으로 묶고, 검증·병합·재명명으로 질서를 유지합니다 — 사건의 단위.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572000"/>
            <a:ext cx="10561320" cy="1143000"/>
          </a:xfrm>
          <a:prstGeom prst="roundRect">
            <a:avLst/>
          </a:prstGeom>
          <a:solidFill>
            <a:srgbClr val="F1EDFF"/>
          </a:solidFill>
          <a:ln>
            <a:solidFill>
              <a:srgbClr val="84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900" b="1">
                <a:solidFill>
                  <a:srgbClr val="252D3D"/>
                </a:solidFill>
                <a:latin typeface="Apple SD Gothic Neo"/>
              </a:rPr>
              <a:t>3. 갑자기 뜨거워진 원탁만 요약해 O/X 판단을 거쳐 알리고, 식으면 소강까지 알립니다 — 관제의 완결.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